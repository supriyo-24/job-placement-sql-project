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4215"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Cabin" panose="020B0604020202020204" charset="0"/>
      <p:regular r:id="rId14"/>
    </p:embeddedFont>
    <p:embeddedFont>
      <p:font typeface="Century Gothic" panose="020B0502020202020204" pitchFamily="34" charset="0"/>
      <p:regular r:id="rId15"/>
      <p:bold r:id="rId16"/>
      <p:italic r:id="rId17"/>
      <p:boldItalic r:id="rId18"/>
    </p:embeddedFont>
    <p:embeddedFont>
      <p:font typeface="Unbounded" panose="020B0604020202020204" charset="0"/>
      <p:regular r:id="rId19"/>
    </p:embeddedFont>
    <p:embeddedFont>
      <p:font typeface="Wingdings 3" panose="05040102010807070707" pitchFamily="18" charset="2"/>
      <p:regular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3205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1054" y="822960"/>
            <a:ext cx="9601200" cy="3566161"/>
          </a:xfrm>
        </p:spPr>
        <p:txBody>
          <a:bodyPr anchor="b">
            <a:normAutofit/>
          </a:bodyPr>
          <a:lstStyle>
            <a:lvl1pPr algn="l">
              <a:defRPr sz="5760">
                <a:effectLst/>
              </a:defRPr>
            </a:lvl1pPr>
          </a:lstStyle>
          <a:p>
            <a:r>
              <a:rPr lang="en-US"/>
              <a:t>Click to edit Master title style</a:t>
            </a:r>
            <a:endParaRPr lang="en-US" dirty="0"/>
          </a:p>
        </p:txBody>
      </p:sp>
      <p:sp>
        <p:nvSpPr>
          <p:cNvPr id="3" name="Subtitle 2"/>
          <p:cNvSpPr>
            <a:spLocks noGrp="1"/>
          </p:cNvSpPr>
          <p:nvPr>
            <p:ph type="subTitle" idx="1"/>
          </p:nvPr>
        </p:nvSpPr>
        <p:spPr>
          <a:xfrm>
            <a:off x="821054" y="4612641"/>
            <a:ext cx="7680960" cy="2336800"/>
          </a:xfrm>
        </p:spPr>
        <p:txBody>
          <a:bodyPr anchor="t">
            <a:normAutofit/>
          </a:bodyPr>
          <a:lstStyle>
            <a:lvl1pPr marL="0" indent="0" algn="l">
              <a:buNone/>
              <a:defRPr sz="2520">
                <a:solidFill>
                  <a:schemeClr val="bg2">
                    <a:lumMod val="7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6" name="Straight Connector 15"/>
          <p:cNvCxnSpPr/>
          <p:nvPr/>
        </p:nvCxnSpPr>
        <p:spPr>
          <a:xfrm flipH="1">
            <a:off x="9873614" y="10160"/>
            <a:ext cx="4572000" cy="4572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7329805" y="109855"/>
            <a:ext cx="7296786" cy="729678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8682990" y="274320"/>
            <a:ext cx="5943600" cy="59436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8803005" y="38734"/>
            <a:ext cx="5823587" cy="5823587"/>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9414512" y="731522"/>
            <a:ext cx="5212079" cy="521207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452153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9117444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1054" y="2407920"/>
            <a:ext cx="10241281" cy="2737920"/>
          </a:xfrm>
        </p:spPr>
        <p:txBody>
          <a:bodyPr anchor="b">
            <a:normAutofit/>
          </a:bodyPr>
          <a:lstStyle>
            <a:lvl1pPr algn="l">
              <a:defRPr sz="4320" b="0" cap="all"/>
            </a:lvl1pPr>
          </a:lstStyle>
          <a:p>
            <a:r>
              <a:rPr lang="en-US"/>
              <a:t>Click to edit Master title style</a:t>
            </a:r>
            <a:endParaRPr lang="en-US" dirty="0"/>
          </a:p>
        </p:txBody>
      </p:sp>
      <p:sp>
        <p:nvSpPr>
          <p:cNvPr id="3" name="Text Placeholder 2"/>
          <p:cNvSpPr>
            <a:spLocks noGrp="1"/>
          </p:cNvSpPr>
          <p:nvPr>
            <p:ph type="body" idx="1"/>
          </p:nvPr>
        </p:nvSpPr>
        <p:spPr>
          <a:xfrm>
            <a:off x="821056" y="5394960"/>
            <a:ext cx="10241280" cy="1798320"/>
          </a:xfrm>
        </p:spPr>
        <p:txBody>
          <a:bodyPr anchor="t">
            <a:normAutofit/>
          </a:bodyPr>
          <a:lstStyle>
            <a:lvl1pPr marL="0" indent="0" algn="l">
              <a:buNone/>
              <a:defRPr sz="2160">
                <a:solidFill>
                  <a:schemeClr val="bg2">
                    <a:lumMod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5730389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1054" y="822961"/>
            <a:ext cx="5925186" cy="433832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969760" y="822961"/>
            <a:ext cx="5921375" cy="433831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8220442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66497" y="822960"/>
            <a:ext cx="5579744" cy="691514"/>
          </a:xfrm>
        </p:spPr>
        <p:txBody>
          <a:bodyPr anchor="b">
            <a:noAutofit/>
          </a:bodyPr>
          <a:lstStyle>
            <a:lvl1pPr marL="0" indent="0">
              <a:buNone/>
              <a:defRPr sz="336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21054" y="1524635"/>
            <a:ext cx="5925186" cy="3636646"/>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294879" y="822960"/>
            <a:ext cx="5598161" cy="691514"/>
          </a:xfrm>
        </p:spPr>
        <p:txBody>
          <a:bodyPr anchor="b">
            <a:noAutofit/>
          </a:bodyPr>
          <a:lstStyle>
            <a:lvl1pPr marL="0" indent="0">
              <a:buNone/>
              <a:defRPr sz="336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967854" y="1514474"/>
            <a:ext cx="5915026" cy="3636646"/>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7288599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8543009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1706429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02014" y="822960"/>
            <a:ext cx="4389120" cy="1645920"/>
          </a:xfrm>
        </p:spPr>
        <p:txBody>
          <a:bodyPr anchor="b">
            <a:normAutofit/>
          </a:bodyPr>
          <a:lstStyle>
            <a:lvl1pPr algn="l">
              <a:defRPr sz="2880" b="0"/>
            </a:lvl1pPr>
          </a:lstStyle>
          <a:p>
            <a:r>
              <a:rPr lang="en-US"/>
              <a:t>Click to edit Master title style</a:t>
            </a:r>
            <a:endParaRPr lang="en-US" dirty="0"/>
          </a:p>
        </p:txBody>
      </p:sp>
      <p:sp>
        <p:nvSpPr>
          <p:cNvPr id="3" name="Content Placeholder 2"/>
          <p:cNvSpPr>
            <a:spLocks noGrp="1"/>
          </p:cNvSpPr>
          <p:nvPr>
            <p:ph idx="1"/>
          </p:nvPr>
        </p:nvSpPr>
        <p:spPr>
          <a:xfrm>
            <a:off x="821055" y="822960"/>
            <a:ext cx="7132321" cy="637032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02014" y="2651760"/>
            <a:ext cx="4389120" cy="2509520"/>
          </a:xfrm>
        </p:spPr>
        <p:txBody>
          <a:bodyPr anchor="t">
            <a:normAutofit/>
          </a:bodyPr>
          <a:lstStyle>
            <a:lvl1pPr marL="0" indent="0">
              <a:buNone/>
              <a:defRPr sz="192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0283845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67374" y="1737360"/>
            <a:ext cx="7223760" cy="1371600"/>
          </a:xfrm>
        </p:spPr>
        <p:txBody>
          <a:bodyPr anchor="b">
            <a:normAutofit/>
          </a:bodyPr>
          <a:lstStyle>
            <a:lvl1pPr algn="l">
              <a:defRPr sz="336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1186814" y="1097280"/>
            <a:ext cx="3937169" cy="54864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5667374" y="3332480"/>
            <a:ext cx="7225666" cy="2458720"/>
          </a:xfrm>
        </p:spPr>
        <p:txBody>
          <a:bodyPr anchor="t">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3693589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822960" y="640080"/>
            <a:ext cx="12982574" cy="374904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16" name="Text Placeholder 9"/>
          <p:cNvSpPr>
            <a:spLocks noGrp="1"/>
          </p:cNvSpPr>
          <p:nvPr>
            <p:ph type="body" sz="quarter" idx="14"/>
          </p:nvPr>
        </p:nvSpPr>
        <p:spPr>
          <a:xfrm>
            <a:off x="1097282" y="4612640"/>
            <a:ext cx="9965052" cy="548640"/>
          </a:xfrm>
        </p:spPr>
        <p:txBody>
          <a:bodyPr anchor="t">
            <a:normAutofit/>
          </a:bodyPr>
          <a:lstStyle>
            <a:lvl1pPr marL="0" indent="0">
              <a:buFontTx/>
              <a:buNone/>
              <a:defRPr sz="1920"/>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8968330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21056" y="822960"/>
            <a:ext cx="12070080" cy="3291840"/>
          </a:xfrm>
        </p:spPr>
        <p:txBody>
          <a:bodyPr anchor="ctr">
            <a:normAutofit/>
          </a:bodyPr>
          <a:lstStyle>
            <a:lvl1pPr algn="l">
              <a:defRPr sz="3840" b="0" cap="all"/>
            </a:lvl1pPr>
          </a:lstStyle>
          <a:p>
            <a:r>
              <a:rPr lang="en-US"/>
              <a:t>Click to edit Master title style</a:t>
            </a:r>
            <a:endParaRPr lang="en-US" dirty="0"/>
          </a:p>
        </p:txBody>
      </p:sp>
      <p:sp>
        <p:nvSpPr>
          <p:cNvPr id="3" name="Text Placeholder 2"/>
          <p:cNvSpPr>
            <a:spLocks noGrp="1"/>
          </p:cNvSpPr>
          <p:nvPr>
            <p:ph type="body" idx="1"/>
          </p:nvPr>
        </p:nvSpPr>
        <p:spPr>
          <a:xfrm>
            <a:off x="821054" y="4937760"/>
            <a:ext cx="10243186" cy="2255520"/>
          </a:xfrm>
        </p:spPr>
        <p:txBody>
          <a:bodyPr anchor="ctr">
            <a:normAutofit/>
          </a:bodyPr>
          <a:lstStyle>
            <a:lvl1pPr marL="0" indent="0" algn="l">
              <a:buNone/>
              <a:defRPr sz="2400">
                <a:solidFill>
                  <a:schemeClr val="bg2">
                    <a:lumMod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6255810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69694" y="822960"/>
            <a:ext cx="10972801" cy="3291840"/>
          </a:xfrm>
        </p:spPr>
        <p:txBody>
          <a:bodyPr anchor="ctr">
            <a:normAutofit/>
          </a:bodyPr>
          <a:lstStyle>
            <a:lvl1pPr algn="l">
              <a:defRPr sz="384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735454" y="4114800"/>
            <a:ext cx="10241280" cy="457200"/>
          </a:xfrm>
        </p:spPr>
        <p:txBody>
          <a:bodyPr anchor="ctr"/>
          <a:lstStyle>
            <a:lvl1pPr marL="0" indent="0">
              <a:buFontTx/>
              <a:buNone/>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21056" y="5161281"/>
            <a:ext cx="10241280" cy="2021838"/>
          </a:xfrm>
        </p:spPr>
        <p:txBody>
          <a:bodyPr anchor="ctr">
            <a:normAutofit/>
          </a:bodyPr>
          <a:lstStyle>
            <a:lvl1pPr marL="0" indent="0" algn="l">
              <a:buNone/>
              <a:defRPr sz="2400">
                <a:solidFill>
                  <a:schemeClr val="bg2">
                    <a:lumMod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14" name="TextBox 13"/>
          <p:cNvSpPr txBox="1"/>
          <p:nvPr/>
        </p:nvSpPr>
        <p:spPr>
          <a:xfrm>
            <a:off x="638174" y="974667"/>
            <a:ext cx="731520" cy="701731"/>
          </a:xfrm>
          <a:prstGeom prst="rect">
            <a:avLst/>
          </a:prstGeom>
        </p:spPr>
        <p:txBody>
          <a:bodyPr vert="horz" lIns="109728" tIns="54864" rIns="109728" bIns="54864" rtlCol="0" anchor="ctr">
            <a:noAutofit/>
          </a:bodyPr>
          <a:lstStyle/>
          <a:p>
            <a:pPr lvl="0"/>
            <a:r>
              <a:rPr lang="en-US" sz="9600" dirty="0">
                <a:solidFill>
                  <a:schemeClr val="tx1"/>
                </a:solidFill>
                <a:effectLst/>
              </a:rPr>
              <a:t>“</a:t>
            </a:r>
          </a:p>
        </p:txBody>
      </p:sp>
      <p:sp>
        <p:nvSpPr>
          <p:cNvPr id="15" name="TextBox 14"/>
          <p:cNvSpPr txBox="1"/>
          <p:nvPr/>
        </p:nvSpPr>
        <p:spPr>
          <a:xfrm>
            <a:off x="12342494" y="3322321"/>
            <a:ext cx="731520" cy="701731"/>
          </a:xfrm>
          <a:prstGeom prst="rect">
            <a:avLst/>
          </a:prstGeom>
        </p:spPr>
        <p:txBody>
          <a:bodyPr vert="horz" lIns="109728" tIns="54864" rIns="109728" bIns="54864" rtlCol="0" anchor="ctr">
            <a:noAutofit/>
          </a:bodyPr>
          <a:lstStyle/>
          <a:p>
            <a:pPr lvl="0" algn="r"/>
            <a:r>
              <a:rPr lang="en-US" sz="9600" dirty="0">
                <a:solidFill>
                  <a:schemeClr val="tx1"/>
                </a:solidFill>
                <a:effectLst/>
              </a:rPr>
              <a:t>”</a:t>
            </a:r>
          </a:p>
        </p:txBody>
      </p:sp>
    </p:spTree>
    <p:extLst>
      <p:ext uri="{BB962C8B-B14F-4D97-AF65-F5344CB8AC3E}">
        <p14:creationId xmlns:p14="http://schemas.microsoft.com/office/powerpoint/2010/main" val="227061259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21054" y="4114800"/>
            <a:ext cx="10241280" cy="2036880"/>
          </a:xfrm>
        </p:spPr>
        <p:txBody>
          <a:bodyPr anchor="b">
            <a:normAutofit/>
          </a:bodyPr>
          <a:lstStyle>
            <a:lvl1pPr algn="l">
              <a:defRPr sz="3840" b="0" cap="all"/>
            </a:lvl1pPr>
          </a:lstStyle>
          <a:p>
            <a:r>
              <a:rPr lang="en-US"/>
              <a:t>Click to edit Master title style</a:t>
            </a:r>
            <a:endParaRPr lang="en-US" dirty="0"/>
          </a:p>
        </p:txBody>
      </p:sp>
      <p:sp>
        <p:nvSpPr>
          <p:cNvPr id="3" name="Text Placeholder 2"/>
          <p:cNvSpPr>
            <a:spLocks noGrp="1"/>
          </p:cNvSpPr>
          <p:nvPr>
            <p:ph type="body" idx="1"/>
          </p:nvPr>
        </p:nvSpPr>
        <p:spPr>
          <a:xfrm>
            <a:off x="821053" y="6159577"/>
            <a:ext cx="10243188" cy="1032480"/>
          </a:xfrm>
        </p:spPr>
        <p:txBody>
          <a:bodyPr anchor="t">
            <a:normAutofit/>
          </a:bodyPr>
          <a:lstStyle>
            <a:lvl1pPr marL="0" indent="0" algn="l">
              <a:buNone/>
              <a:defRPr sz="2400">
                <a:solidFill>
                  <a:schemeClr val="bg2">
                    <a:lumMod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7474457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369696" y="822960"/>
            <a:ext cx="10972800" cy="3291840"/>
          </a:xfrm>
        </p:spPr>
        <p:txBody>
          <a:bodyPr anchor="ctr">
            <a:normAutofit/>
          </a:bodyPr>
          <a:lstStyle>
            <a:lvl1pPr algn="l">
              <a:defRPr sz="384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821055" y="4714241"/>
            <a:ext cx="10241281" cy="1259839"/>
          </a:xfrm>
        </p:spPr>
        <p:txBody>
          <a:bodyPr vert="horz" lIns="91440" tIns="45720" rIns="91440" bIns="45720" rtlCol="0" anchor="b">
            <a:normAutofit/>
          </a:bodyPr>
          <a:lstStyle>
            <a:lvl1pPr>
              <a:buNone/>
              <a:defRPr lang="en-US" sz="288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21054" y="5974080"/>
            <a:ext cx="10241281" cy="1219200"/>
          </a:xfrm>
        </p:spPr>
        <p:txBody>
          <a:bodyPr anchor="t">
            <a:normAutofit/>
          </a:bodyPr>
          <a:lstStyle>
            <a:lvl1pPr marL="0" indent="0" algn="l">
              <a:buNone/>
              <a:defRPr sz="2160">
                <a:solidFill>
                  <a:schemeClr val="bg2">
                    <a:lumMod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11" name="TextBox 10"/>
          <p:cNvSpPr txBox="1"/>
          <p:nvPr/>
        </p:nvSpPr>
        <p:spPr>
          <a:xfrm>
            <a:off x="638174" y="974667"/>
            <a:ext cx="731520" cy="701731"/>
          </a:xfrm>
          <a:prstGeom prst="rect">
            <a:avLst/>
          </a:prstGeom>
        </p:spPr>
        <p:txBody>
          <a:bodyPr vert="horz" lIns="109728" tIns="54864" rIns="109728" bIns="54864" rtlCol="0" anchor="ctr">
            <a:noAutofit/>
          </a:bodyPr>
          <a:lstStyle/>
          <a:p>
            <a:pPr lvl="0"/>
            <a:r>
              <a:rPr lang="en-US" sz="9600" dirty="0">
                <a:solidFill>
                  <a:schemeClr val="tx1"/>
                </a:solidFill>
                <a:effectLst/>
              </a:rPr>
              <a:t>“</a:t>
            </a:r>
          </a:p>
        </p:txBody>
      </p:sp>
      <p:sp>
        <p:nvSpPr>
          <p:cNvPr id="12" name="TextBox 11"/>
          <p:cNvSpPr txBox="1"/>
          <p:nvPr/>
        </p:nvSpPr>
        <p:spPr>
          <a:xfrm>
            <a:off x="12342494" y="3322321"/>
            <a:ext cx="731520" cy="701731"/>
          </a:xfrm>
          <a:prstGeom prst="rect">
            <a:avLst/>
          </a:prstGeom>
        </p:spPr>
        <p:txBody>
          <a:bodyPr vert="horz" lIns="109728" tIns="54864" rIns="109728" bIns="54864" rtlCol="0" anchor="ctr">
            <a:noAutofit/>
          </a:bodyPr>
          <a:lstStyle/>
          <a:p>
            <a:pPr lvl="0" algn="r"/>
            <a:r>
              <a:rPr lang="en-US" sz="9600" dirty="0">
                <a:solidFill>
                  <a:schemeClr val="tx1"/>
                </a:solidFill>
                <a:effectLst/>
              </a:rPr>
              <a:t>”</a:t>
            </a:r>
          </a:p>
        </p:txBody>
      </p:sp>
    </p:spTree>
    <p:extLst>
      <p:ext uri="{BB962C8B-B14F-4D97-AF65-F5344CB8AC3E}">
        <p14:creationId xmlns:p14="http://schemas.microsoft.com/office/powerpoint/2010/main" val="47576713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1056" y="822960"/>
            <a:ext cx="12070080" cy="329184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821054" y="4714241"/>
            <a:ext cx="10241280" cy="1005840"/>
          </a:xfrm>
        </p:spPr>
        <p:txBody>
          <a:bodyPr vert="horz" lIns="91440" tIns="45720" rIns="91440" bIns="45720" rtlCol="0" anchor="b">
            <a:normAutofit/>
          </a:bodyPr>
          <a:lstStyle>
            <a:lvl1pPr>
              <a:buNone/>
              <a:defRPr lang="en-US" sz="288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21054" y="5720079"/>
            <a:ext cx="10241281" cy="1473200"/>
          </a:xfrm>
        </p:spPr>
        <p:txBody>
          <a:bodyPr anchor="t">
            <a:normAutofit/>
          </a:bodyPr>
          <a:lstStyle>
            <a:lvl1pPr marL="0" indent="0" algn="l">
              <a:buNone/>
              <a:defRPr sz="2160">
                <a:solidFill>
                  <a:schemeClr val="bg2">
                    <a:lumMod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4220817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4408760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22254" y="822960"/>
            <a:ext cx="2468880" cy="5486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22960" y="822960"/>
            <a:ext cx="9387840" cy="637032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6004434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66141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02546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62883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10272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90406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62100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54319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28348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77000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8123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11048363" y="3556000"/>
            <a:ext cx="3578230" cy="3850640"/>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821054" y="5384799"/>
            <a:ext cx="10241280" cy="180848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21054" y="822961"/>
            <a:ext cx="10241280" cy="433832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885294" y="7406641"/>
            <a:ext cx="1920240" cy="438150"/>
          </a:xfrm>
          <a:prstGeom prst="rect">
            <a:avLst/>
          </a:prstGeom>
        </p:spPr>
        <p:txBody>
          <a:bodyPr vert="horz" lIns="91440" tIns="45720" rIns="91440" bIns="45720" rtlCol="0" anchor="t"/>
          <a:lstStyle>
            <a:lvl1pPr algn="r">
              <a:defRPr sz="1200" b="0" i="0">
                <a:solidFill>
                  <a:schemeClr val="bg2">
                    <a:lumMod val="50000"/>
                  </a:schemeClr>
                </a:solidFill>
                <a:effectLst/>
                <a:latin typeface="+mn-lt"/>
              </a:defRPr>
            </a:lvl1pPr>
          </a:lstStyle>
          <a:p>
            <a:fld id="{C764DE79-268F-4C1A-8933-263129D2AF90}" type="datetimeFigureOut">
              <a:rPr lang="en-US" smtClean="0"/>
              <a:t>11/16/2025</a:t>
            </a:fld>
            <a:endParaRPr lang="en-US" dirty="0"/>
          </a:p>
        </p:txBody>
      </p:sp>
      <p:sp>
        <p:nvSpPr>
          <p:cNvPr id="5" name="Footer Placeholder 4"/>
          <p:cNvSpPr>
            <a:spLocks noGrp="1"/>
          </p:cNvSpPr>
          <p:nvPr>
            <p:ph type="ftr" sz="quarter" idx="3"/>
          </p:nvPr>
        </p:nvSpPr>
        <p:spPr>
          <a:xfrm>
            <a:off x="821054" y="7406641"/>
            <a:ext cx="9052560" cy="438150"/>
          </a:xfrm>
          <a:prstGeom prst="rect">
            <a:avLst/>
          </a:prstGeom>
        </p:spPr>
        <p:txBody>
          <a:bodyPr vert="horz" lIns="91440" tIns="45720" rIns="91440" bIns="45720" rtlCol="0" anchor="t"/>
          <a:lstStyle>
            <a:lvl1pPr algn="l">
              <a:defRPr sz="12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2435841" y="6694171"/>
            <a:ext cx="1370694" cy="803910"/>
          </a:xfrm>
          <a:prstGeom prst="rect">
            <a:avLst/>
          </a:prstGeom>
        </p:spPr>
        <p:txBody>
          <a:bodyPr vert="horz" lIns="91440" tIns="45720" rIns="91440" bIns="45720" rtlCol="0" anchor="b"/>
          <a:lstStyle>
            <a:lvl1pPr algn="r">
              <a:defRPr sz="3840" b="0" i="0">
                <a:solidFill>
                  <a:schemeClr val="bg2">
                    <a:lumMod val="50000"/>
                  </a:schemeClr>
                </a:solidFill>
                <a:effectLst/>
                <a:latin typeface="+mn-lt"/>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119997486"/>
      </p:ext>
    </p:extLst>
  </p:cSld>
  <p:clrMap bg1="dk1" tx1="lt1" bg2="dk2" tx2="lt2" accent1="accent1" accent2="accent2" accent3="accent3" accent4="accent4" accent5="accent5" accent6="accent6" hlink="hlink" folHlink="folHlink"/>
  <p:sldLayoutIdLst>
    <p:sldLayoutId id="2147484216" r:id="rId1"/>
    <p:sldLayoutId id="2147484217" r:id="rId2"/>
    <p:sldLayoutId id="2147484218" r:id="rId3"/>
    <p:sldLayoutId id="2147484219" r:id="rId4"/>
    <p:sldLayoutId id="2147484220" r:id="rId5"/>
    <p:sldLayoutId id="2147484221" r:id="rId6"/>
    <p:sldLayoutId id="2147484222" r:id="rId7"/>
    <p:sldLayoutId id="2147484223" r:id="rId8"/>
    <p:sldLayoutId id="2147484224" r:id="rId9"/>
    <p:sldLayoutId id="2147484225" r:id="rId10"/>
    <p:sldLayoutId id="2147484226" r:id="rId11"/>
    <p:sldLayoutId id="2147484227" r:id="rId12"/>
    <p:sldLayoutId id="2147484228" r:id="rId13"/>
    <p:sldLayoutId id="2147484229" r:id="rId14"/>
    <p:sldLayoutId id="2147484230" r:id="rId15"/>
    <p:sldLayoutId id="2147484231" r:id="rId16"/>
    <p:sldLayoutId id="2147484232" r:id="rId17"/>
    <p:sldLayoutId id="2147484233" r:id="rId18"/>
    <p:sldLayoutId id="2147484234" r:id="rId19"/>
    <p:sldLayoutId id="2147484235" r:id="rId20"/>
    <p:sldLayoutId id="2147484236" r:id="rId21"/>
    <p:sldLayoutId id="2147484237" r:id="rId22"/>
    <p:sldLayoutId id="2147484238" r:id="rId23"/>
    <p:sldLayoutId id="2147484239" r:id="rId24"/>
    <p:sldLayoutId id="2147484240" r:id="rId25"/>
    <p:sldLayoutId id="2147484241" r:id="rId26"/>
    <p:sldLayoutId id="2147484242" r:id="rId27"/>
  </p:sldLayoutIdLst>
  <p:hf sldNum="0" hdr="0" ftr="0" dt="0"/>
  <p:txStyles>
    <p:titleStyle>
      <a:lvl1pPr algn="l" defTabSz="548640" rtl="0" eaLnBrk="1" latinLnBrk="0" hangingPunct="1">
        <a:spcBef>
          <a:spcPct val="0"/>
        </a:spcBef>
        <a:buNone/>
        <a:defRPr sz="432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548640" rtl="0" eaLnBrk="1" latinLnBrk="0" hangingPunct="1">
        <a:spcBef>
          <a:spcPct val="20000"/>
        </a:spcBef>
        <a:spcAft>
          <a:spcPts val="720"/>
        </a:spcAft>
        <a:buClr>
          <a:schemeClr val="tx1"/>
        </a:buClr>
        <a:buSzPct val="80000"/>
        <a:buFont typeface="Wingdings 3" panose="05040102010807070707" pitchFamily="18" charset="2"/>
        <a:buChar char=""/>
        <a:defRPr sz="2400" kern="1200" cap="none">
          <a:solidFill>
            <a:schemeClr val="bg2">
              <a:lumMod val="75000"/>
            </a:schemeClr>
          </a:solidFill>
          <a:effectLst/>
          <a:latin typeface="+mn-lt"/>
          <a:ea typeface="+mn-ea"/>
          <a:cs typeface="+mn-cs"/>
        </a:defRPr>
      </a:lvl1pPr>
      <a:lvl2pPr marL="891540" indent="-342900" algn="l" defTabSz="548640" rtl="0" eaLnBrk="1" latinLnBrk="0" hangingPunct="1">
        <a:spcBef>
          <a:spcPct val="20000"/>
        </a:spcBef>
        <a:spcAft>
          <a:spcPts val="720"/>
        </a:spcAft>
        <a:buClr>
          <a:schemeClr val="tx1"/>
        </a:buClr>
        <a:buSzPct val="80000"/>
        <a:buFont typeface="Wingdings 3" panose="05040102010807070707" pitchFamily="18" charset="2"/>
        <a:buChar char=""/>
        <a:defRPr sz="2160" kern="1200" cap="none">
          <a:solidFill>
            <a:schemeClr val="bg2">
              <a:lumMod val="75000"/>
            </a:schemeClr>
          </a:solidFill>
          <a:effectLst/>
          <a:latin typeface="+mn-lt"/>
          <a:ea typeface="+mn-ea"/>
          <a:cs typeface="+mn-cs"/>
        </a:defRPr>
      </a:lvl2pPr>
      <a:lvl3pPr marL="1440180" indent="-342900" algn="l" defTabSz="548640" rtl="0" eaLnBrk="1" latinLnBrk="0" hangingPunct="1">
        <a:spcBef>
          <a:spcPct val="20000"/>
        </a:spcBef>
        <a:spcAft>
          <a:spcPts val="720"/>
        </a:spcAft>
        <a:buClr>
          <a:schemeClr val="tx1"/>
        </a:buClr>
        <a:buSzPct val="80000"/>
        <a:buFont typeface="Wingdings 3" panose="05040102010807070707" pitchFamily="18" charset="2"/>
        <a:buChar char=""/>
        <a:defRPr sz="1920" kern="1200" cap="none">
          <a:solidFill>
            <a:schemeClr val="bg2">
              <a:lumMod val="75000"/>
            </a:schemeClr>
          </a:solidFill>
          <a:effectLst/>
          <a:latin typeface="+mn-lt"/>
          <a:ea typeface="+mn-ea"/>
          <a:cs typeface="+mn-cs"/>
        </a:defRPr>
      </a:lvl3pPr>
      <a:lvl4pPr marL="1851660" indent="-205740" algn="l" defTabSz="548640" rtl="0" eaLnBrk="1" latinLnBrk="0" hangingPunct="1">
        <a:spcBef>
          <a:spcPct val="20000"/>
        </a:spcBef>
        <a:spcAft>
          <a:spcPts val="720"/>
        </a:spcAft>
        <a:buClr>
          <a:schemeClr val="tx1"/>
        </a:buClr>
        <a:buSzPct val="80000"/>
        <a:buFont typeface="Wingdings 3" panose="05040102010807070707" pitchFamily="18" charset="2"/>
        <a:buChar char=""/>
        <a:defRPr sz="1680" kern="1200" cap="none">
          <a:solidFill>
            <a:schemeClr val="bg2">
              <a:lumMod val="75000"/>
            </a:schemeClr>
          </a:solidFill>
          <a:effectLst/>
          <a:latin typeface="+mn-lt"/>
          <a:ea typeface="+mn-ea"/>
          <a:cs typeface="+mn-cs"/>
        </a:defRPr>
      </a:lvl4pPr>
      <a:lvl5pPr marL="2400300" indent="-205740" algn="l" defTabSz="548640" rtl="0" eaLnBrk="1" latinLnBrk="0" hangingPunct="1">
        <a:spcBef>
          <a:spcPct val="20000"/>
        </a:spcBef>
        <a:spcAft>
          <a:spcPts val="720"/>
        </a:spcAft>
        <a:buClr>
          <a:schemeClr val="tx1"/>
        </a:buClr>
        <a:buSzPct val="80000"/>
        <a:buFont typeface="Wingdings 3" panose="05040102010807070707" pitchFamily="18" charset="2"/>
        <a:buChar char=""/>
        <a:defRPr sz="1680" kern="1200" cap="none">
          <a:solidFill>
            <a:schemeClr val="bg2">
              <a:lumMod val="75000"/>
            </a:schemeClr>
          </a:solidFill>
          <a:effectLst/>
          <a:latin typeface="+mn-lt"/>
          <a:ea typeface="+mn-ea"/>
          <a:cs typeface="+mn-cs"/>
        </a:defRPr>
      </a:lvl5pPr>
      <a:lvl6pPr marL="3017520" indent="-274320" algn="l" defTabSz="548640" rtl="0" eaLnBrk="1" latinLnBrk="0" hangingPunct="1">
        <a:spcBef>
          <a:spcPct val="20000"/>
        </a:spcBef>
        <a:spcAft>
          <a:spcPts val="720"/>
        </a:spcAft>
        <a:buClr>
          <a:schemeClr val="tx1"/>
        </a:buClr>
        <a:buSzPct val="80000"/>
        <a:buFont typeface="Wingdings 3" panose="05040102010807070707" pitchFamily="18" charset="2"/>
        <a:buChar char=""/>
        <a:defRPr sz="1680" kern="1200" cap="none">
          <a:solidFill>
            <a:schemeClr val="bg2">
              <a:lumMod val="75000"/>
            </a:schemeClr>
          </a:solidFill>
          <a:effectLst/>
          <a:latin typeface="+mn-lt"/>
          <a:ea typeface="+mn-ea"/>
          <a:cs typeface="+mn-cs"/>
        </a:defRPr>
      </a:lvl6pPr>
      <a:lvl7pPr marL="3566160" indent="-274320" algn="l" defTabSz="548640" rtl="0" eaLnBrk="1" latinLnBrk="0" hangingPunct="1">
        <a:spcBef>
          <a:spcPct val="20000"/>
        </a:spcBef>
        <a:spcAft>
          <a:spcPts val="720"/>
        </a:spcAft>
        <a:buClr>
          <a:schemeClr val="tx1"/>
        </a:buClr>
        <a:buSzPct val="80000"/>
        <a:buFont typeface="Wingdings 3" panose="05040102010807070707" pitchFamily="18" charset="2"/>
        <a:buChar char=""/>
        <a:defRPr sz="1680" kern="1200" cap="none">
          <a:solidFill>
            <a:schemeClr val="bg2">
              <a:lumMod val="75000"/>
            </a:schemeClr>
          </a:solidFill>
          <a:effectLst/>
          <a:latin typeface="+mn-lt"/>
          <a:ea typeface="+mn-ea"/>
          <a:cs typeface="+mn-cs"/>
        </a:defRPr>
      </a:lvl7pPr>
      <a:lvl8pPr marL="4114800" indent="-274320" algn="l" defTabSz="548640" rtl="0" eaLnBrk="1" latinLnBrk="0" hangingPunct="1">
        <a:spcBef>
          <a:spcPct val="20000"/>
        </a:spcBef>
        <a:spcAft>
          <a:spcPts val="720"/>
        </a:spcAft>
        <a:buClr>
          <a:schemeClr val="tx1"/>
        </a:buClr>
        <a:buSzPct val="80000"/>
        <a:buFont typeface="Wingdings 3" panose="05040102010807070707" pitchFamily="18" charset="2"/>
        <a:buChar char=""/>
        <a:defRPr sz="1680" kern="1200" cap="none">
          <a:solidFill>
            <a:schemeClr val="bg2">
              <a:lumMod val="75000"/>
            </a:schemeClr>
          </a:solidFill>
          <a:effectLst/>
          <a:latin typeface="+mn-lt"/>
          <a:ea typeface="+mn-ea"/>
          <a:cs typeface="+mn-cs"/>
        </a:defRPr>
      </a:lvl8pPr>
      <a:lvl9pPr marL="4663440" indent="-274320" algn="l" defTabSz="548640" rtl="0" eaLnBrk="1" latinLnBrk="0" hangingPunct="1">
        <a:spcBef>
          <a:spcPct val="20000"/>
        </a:spcBef>
        <a:spcAft>
          <a:spcPts val="720"/>
        </a:spcAft>
        <a:buClr>
          <a:schemeClr val="tx1"/>
        </a:buClr>
        <a:buSzPct val="80000"/>
        <a:buFont typeface="Wingdings 3" panose="05040102010807070707" pitchFamily="18" charset="2"/>
        <a:buChar char=""/>
        <a:defRPr sz="1680" kern="1200" cap="none">
          <a:solidFill>
            <a:schemeClr val="bg2">
              <a:lumMod val="75000"/>
            </a:schemeClr>
          </a:solidFill>
          <a:effectLst/>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486853"/>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Job Placement SQL Project Report</a:t>
            </a:r>
            <a:endParaRPr lang="en-US" sz="4400" dirty="0"/>
          </a:p>
        </p:txBody>
      </p:sp>
      <p:sp>
        <p:nvSpPr>
          <p:cNvPr id="4" name="Text 1"/>
          <p:cNvSpPr/>
          <p:nvPr/>
        </p:nvSpPr>
        <p:spPr>
          <a:xfrm>
            <a:off x="837724" y="3253859"/>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Name: </a:t>
            </a:r>
            <a:r>
              <a:rPr lang="en-US" sz="1850" b="1" dirty="0">
                <a:solidFill>
                  <a:srgbClr val="CAD6DE"/>
                </a:solidFill>
                <a:latin typeface="Cabin" pitchFamily="34" charset="0"/>
                <a:ea typeface="Cabin" pitchFamily="34" charset="-122"/>
                <a:cs typeface="Cabin" pitchFamily="34" charset="-120"/>
              </a:rPr>
              <a:t>Supriyo Maity</a:t>
            </a:r>
            <a:endParaRPr lang="en-US" sz="1850" dirty="0"/>
          </a:p>
        </p:txBody>
      </p:sp>
      <p:sp>
        <p:nvSpPr>
          <p:cNvPr id="5" name="Text 2"/>
          <p:cNvSpPr/>
          <p:nvPr/>
        </p:nvSpPr>
        <p:spPr>
          <a:xfrm>
            <a:off x="837724" y="3906083"/>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Tool Used: </a:t>
            </a:r>
            <a:r>
              <a:rPr lang="en-US" sz="1850" b="1" dirty="0">
                <a:solidFill>
                  <a:srgbClr val="CAD6DE"/>
                </a:solidFill>
                <a:latin typeface="Cabin" pitchFamily="34" charset="0"/>
                <a:ea typeface="Cabin" pitchFamily="34" charset="-122"/>
                <a:cs typeface="Cabin" pitchFamily="34" charset="-120"/>
              </a:rPr>
              <a:t>MySQL Workbench</a:t>
            </a:r>
            <a:endParaRPr lang="en-US" sz="1850" dirty="0"/>
          </a:p>
        </p:txBody>
      </p:sp>
      <p:sp>
        <p:nvSpPr>
          <p:cNvPr id="6" name="Text 3"/>
          <p:cNvSpPr/>
          <p:nvPr/>
        </p:nvSpPr>
        <p:spPr>
          <a:xfrm>
            <a:off x="837724" y="4558308"/>
            <a:ext cx="7468553"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7" name="Text 4"/>
          <p:cNvSpPr/>
          <p:nvPr/>
        </p:nvSpPr>
        <p:spPr>
          <a:xfrm>
            <a:off x="837723" y="4558307"/>
            <a:ext cx="7468553" cy="1532096"/>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This project aims to analyze job placement data using SQL queries. The dataset consists of student details such as gender, degree, stream, GPA, and salary. The main objective is to explore patterns that affect placement outcomes, salary trends, and overall employability.</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9368" y="518041"/>
            <a:ext cx="5022175" cy="360164"/>
          </a:xfrm>
          <a:prstGeom prst="rect">
            <a:avLst/>
          </a:prstGeom>
          <a:noFill/>
          <a:ln/>
        </p:spPr>
        <p:txBody>
          <a:bodyPr wrap="none" lIns="0" tIns="0" rIns="0" bIns="0" rtlCol="0" anchor="t"/>
          <a:lstStyle/>
          <a:p>
            <a:pPr marL="0" indent="0" algn="l">
              <a:lnSpc>
                <a:spcPts val="2800"/>
              </a:lnSpc>
              <a:buNone/>
            </a:pPr>
            <a:r>
              <a:rPr lang="en-US" sz="2250" dirty="0">
                <a:solidFill>
                  <a:srgbClr val="FFFFFF"/>
                </a:solidFill>
                <a:latin typeface="Unbounded" pitchFamily="34" charset="0"/>
                <a:ea typeface="Unbounded" pitchFamily="34" charset="-122"/>
                <a:cs typeface="Unbounded" pitchFamily="34" charset="-120"/>
              </a:rPr>
              <a:t>Database and Table Creation</a:t>
            </a:r>
            <a:endParaRPr lang="en-US" sz="2250" dirty="0"/>
          </a:p>
        </p:txBody>
      </p:sp>
      <p:sp>
        <p:nvSpPr>
          <p:cNvPr id="3" name="Text 1"/>
          <p:cNvSpPr/>
          <p:nvPr/>
        </p:nvSpPr>
        <p:spPr>
          <a:xfrm>
            <a:off x="659368" y="1123117"/>
            <a:ext cx="13311664" cy="195977"/>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Database Creation</a:t>
            </a:r>
            <a:endParaRPr lang="en-US" sz="950" dirty="0"/>
          </a:p>
        </p:txBody>
      </p:sp>
      <p:sp>
        <p:nvSpPr>
          <p:cNvPr id="4" name="Shape 2"/>
          <p:cNvSpPr/>
          <p:nvPr/>
        </p:nvSpPr>
        <p:spPr>
          <a:xfrm>
            <a:off x="659368" y="1456849"/>
            <a:ext cx="13311664" cy="575548"/>
          </a:xfrm>
          <a:prstGeom prst="roundRect">
            <a:avLst>
              <a:gd name="adj" fmla="val 3192"/>
            </a:avLst>
          </a:prstGeom>
          <a:solidFill>
            <a:srgbClr val="1E3543"/>
          </a:solidFill>
          <a:ln/>
        </p:spPr>
        <p:txBody>
          <a:bodyPr/>
          <a:lstStyle/>
          <a:p>
            <a:endParaRPr lang="en-IN"/>
          </a:p>
        </p:txBody>
      </p:sp>
      <p:sp>
        <p:nvSpPr>
          <p:cNvPr id="5" name="Shape 3"/>
          <p:cNvSpPr/>
          <p:nvPr/>
        </p:nvSpPr>
        <p:spPr>
          <a:xfrm>
            <a:off x="653296" y="1456849"/>
            <a:ext cx="13323808" cy="575548"/>
          </a:xfrm>
          <a:prstGeom prst="roundRect">
            <a:avLst>
              <a:gd name="adj" fmla="val 3192"/>
            </a:avLst>
          </a:prstGeom>
          <a:solidFill>
            <a:schemeClr val="tx2">
              <a:lumMod val="40000"/>
              <a:lumOff val="60000"/>
            </a:schemeClr>
          </a:solidFill>
          <a:ln>
            <a:solidFill>
              <a:schemeClr val="tx2">
                <a:lumMod val="60000"/>
                <a:lumOff val="40000"/>
              </a:schemeClr>
            </a:solidFill>
          </a:ln>
        </p:spPr>
        <p:txBody>
          <a:bodyPr/>
          <a:lstStyle/>
          <a:p>
            <a:endParaRPr lang="en-IN"/>
          </a:p>
        </p:txBody>
      </p:sp>
      <p:sp>
        <p:nvSpPr>
          <p:cNvPr id="6" name="Text 4"/>
          <p:cNvSpPr/>
          <p:nvPr/>
        </p:nvSpPr>
        <p:spPr>
          <a:xfrm>
            <a:off x="775692" y="1548646"/>
            <a:ext cx="13079016" cy="391954"/>
          </a:xfrm>
          <a:prstGeom prst="rect">
            <a:avLst/>
          </a:prstGeom>
          <a:noFill/>
          <a:ln/>
        </p:spPr>
        <p:txBody>
          <a:bodyPr wrap="square" lIns="0" tIns="0" rIns="0" bIns="0" rtlCol="0" anchor="t"/>
          <a:lstStyle/>
          <a:p>
            <a:r>
              <a:rPr lang="en-US" sz="1100" dirty="0">
                <a:solidFill>
                  <a:schemeClr val="bg1"/>
                </a:solidFill>
              </a:rPr>
              <a:t>CREATE DATABASE job;</a:t>
            </a:r>
          </a:p>
          <a:p>
            <a:r>
              <a:rPr lang="en-US" sz="1100" dirty="0">
                <a:solidFill>
                  <a:schemeClr val="bg1"/>
                </a:solidFill>
              </a:rPr>
              <a:t>USE job;</a:t>
            </a:r>
          </a:p>
        </p:txBody>
      </p:sp>
      <p:sp>
        <p:nvSpPr>
          <p:cNvPr id="7" name="Text 5"/>
          <p:cNvSpPr/>
          <p:nvPr/>
        </p:nvSpPr>
        <p:spPr>
          <a:xfrm>
            <a:off x="659368" y="2170152"/>
            <a:ext cx="13311664" cy="195977"/>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Explanation:</a:t>
            </a:r>
            <a:r>
              <a:rPr lang="en-US" sz="950" dirty="0">
                <a:solidFill>
                  <a:srgbClr val="CAD6DE"/>
                </a:solidFill>
                <a:latin typeface="Cabin" pitchFamily="34" charset="0"/>
                <a:ea typeface="Cabin" pitchFamily="34" charset="-122"/>
                <a:cs typeface="Cabin" pitchFamily="34" charset="-120"/>
              </a:rPr>
              <a:t> A new database named job is created and selected for analysis.</a:t>
            </a:r>
            <a:endParaRPr lang="en-US" sz="950" dirty="0"/>
          </a:p>
        </p:txBody>
      </p:sp>
      <p:sp>
        <p:nvSpPr>
          <p:cNvPr id="8" name="Text 6"/>
          <p:cNvSpPr/>
          <p:nvPr/>
        </p:nvSpPr>
        <p:spPr>
          <a:xfrm>
            <a:off x="659368" y="2503884"/>
            <a:ext cx="13311664" cy="195977"/>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Insight:</a:t>
            </a:r>
            <a:r>
              <a:rPr lang="en-US" sz="950" dirty="0">
                <a:solidFill>
                  <a:srgbClr val="CAD6DE"/>
                </a:solidFill>
                <a:latin typeface="Cabin" pitchFamily="34" charset="0"/>
                <a:ea typeface="Cabin" pitchFamily="34" charset="-122"/>
                <a:cs typeface="Cabin" pitchFamily="34" charset="-120"/>
              </a:rPr>
              <a:t> The database serves as the foundation for storing all placement-related tables and data.</a:t>
            </a:r>
            <a:endParaRPr lang="en-US" sz="950" dirty="0"/>
          </a:p>
        </p:txBody>
      </p:sp>
      <p:sp>
        <p:nvSpPr>
          <p:cNvPr id="9" name="Text 7"/>
          <p:cNvSpPr/>
          <p:nvPr/>
        </p:nvSpPr>
        <p:spPr>
          <a:xfrm>
            <a:off x="659368" y="2837617"/>
            <a:ext cx="13311664" cy="195977"/>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Table Structure</a:t>
            </a:r>
            <a:endParaRPr lang="en-US" sz="950" dirty="0"/>
          </a:p>
        </p:txBody>
      </p:sp>
      <p:sp>
        <p:nvSpPr>
          <p:cNvPr id="10" name="Shape 8"/>
          <p:cNvSpPr/>
          <p:nvPr/>
        </p:nvSpPr>
        <p:spPr>
          <a:xfrm>
            <a:off x="659368" y="3171349"/>
            <a:ext cx="13311664" cy="2731294"/>
          </a:xfrm>
          <a:prstGeom prst="roundRect">
            <a:avLst>
              <a:gd name="adj" fmla="val 673"/>
            </a:avLst>
          </a:prstGeom>
          <a:solidFill>
            <a:srgbClr val="1E3543"/>
          </a:solidFill>
          <a:ln/>
        </p:spPr>
        <p:txBody>
          <a:bodyPr/>
          <a:lstStyle/>
          <a:p>
            <a:endParaRPr lang="en-IN"/>
          </a:p>
        </p:txBody>
      </p:sp>
      <p:sp>
        <p:nvSpPr>
          <p:cNvPr id="11" name="Shape 9"/>
          <p:cNvSpPr/>
          <p:nvPr/>
        </p:nvSpPr>
        <p:spPr>
          <a:xfrm>
            <a:off x="653296" y="3171349"/>
            <a:ext cx="13323808" cy="2731294"/>
          </a:xfrm>
          <a:prstGeom prst="roundRect">
            <a:avLst>
              <a:gd name="adj" fmla="val 673"/>
            </a:avLst>
          </a:prstGeom>
          <a:solidFill>
            <a:schemeClr val="tx2">
              <a:lumMod val="60000"/>
              <a:lumOff val="40000"/>
            </a:schemeClr>
          </a:solidFill>
          <a:ln>
            <a:solidFill>
              <a:schemeClr val="tx2">
                <a:lumMod val="60000"/>
                <a:lumOff val="40000"/>
              </a:schemeClr>
            </a:solidFill>
          </a:ln>
        </p:spPr>
        <p:txBody>
          <a:bodyPr/>
          <a:lstStyle/>
          <a:p>
            <a:endParaRPr lang="en-IN">
              <a:solidFill>
                <a:schemeClr val="tx2">
                  <a:lumMod val="40000"/>
                  <a:lumOff val="60000"/>
                </a:schemeClr>
              </a:solidFill>
            </a:endParaRPr>
          </a:p>
        </p:txBody>
      </p:sp>
      <p:sp>
        <p:nvSpPr>
          <p:cNvPr id="12" name="Text 10"/>
          <p:cNvSpPr/>
          <p:nvPr/>
        </p:nvSpPr>
        <p:spPr>
          <a:xfrm>
            <a:off x="775692" y="3263146"/>
            <a:ext cx="13079016" cy="2547699"/>
          </a:xfrm>
          <a:prstGeom prst="rect">
            <a:avLst/>
          </a:prstGeom>
          <a:noFill/>
          <a:ln/>
        </p:spPr>
        <p:txBody>
          <a:bodyPr wrap="square" lIns="0" tIns="0" rIns="0" bIns="0" rtlCol="0" anchor="t"/>
          <a:lstStyle/>
          <a:p>
            <a:r>
              <a:rPr lang="en-IN" sz="1100" dirty="0">
                <a:solidFill>
                  <a:schemeClr val="bg1"/>
                </a:solidFill>
              </a:rPr>
              <a:t>CREATE TABLE job (</a:t>
            </a:r>
          </a:p>
          <a:p>
            <a:r>
              <a:rPr lang="en-IN" sz="1100" dirty="0">
                <a:solidFill>
                  <a:schemeClr val="bg1"/>
                </a:solidFill>
              </a:rPr>
              <a:t>    id INT PRIMARY KEY,</a:t>
            </a:r>
          </a:p>
          <a:p>
            <a:r>
              <a:rPr lang="en-IN" sz="1100" dirty="0">
                <a:solidFill>
                  <a:schemeClr val="bg1"/>
                </a:solidFill>
              </a:rPr>
              <a:t>    name VARCHAR(100),</a:t>
            </a:r>
          </a:p>
          <a:p>
            <a:r>
              <a:rPr lang="en-IN" sz="1100" dirty="0">
                <a:solidFill>
                  <a:schemeClr val="bg1"/>
                </a:solidFill>
              </a:rPr>
              <a:t>    gender VARCHAR(10),</a:t>
            </a:r>
          </a:p>
          <a:p>
            <a:r>
              <a:rPr lang="en-IN" sz="1100" dirty="0">
                <a:solidFill>
                  <a:schemeClr val="bg1"/>
                </a:solidFill>
              </a:rPr>
              <a:t>    age INT,</a:t>
            </a:r>
          </a:p>
          <a:p>
            <a:r>
              <a:rPr lang="en-IN" sz="1100" dirty="0">
                <a:solidFill>
                  <a:schemeClr val="bg1"/>
                </a:solidFill>
              </a:rPr>
              <a:t>    degree VARCHAR(50),</a:t>
            </a:r>
          </a:p>
          <a:p>
            <a:r>
              <a:rPr lang="en-IN" sz="1100" dirty="0">
                <a:solidFill>
                  <a:schemeClr val="bg1"/>
                </a:solidFill>
              </a:rPr>
              <a:t>    stream VARCHAR(100),</a:t>
            </a:r>
          </a:p>
          <a:p>
            <a:r>
              <a:rPr lang="en-IN" sz="1100" dirty="0">
                <a:solidFill>
                  <a:schemeClr val="bg1"/>
                </a:solidFill>
              </a:rPr>
              <a:t>    </a:t>
            </a:r>
            <a:r>
              <a:rPr lang="en-IN" sz="1100" dirty="0" err="1">
                <a:solidFill>
                  <a:schemeClr val="bg1"/>
                </a:solidFill>
              </a:rPr>
              <a:t>college_name</a:t>
            </a:r>
            <a:r>
              <a:rPr lang="en-IN" sz="1100" dirty="0">
                <a:solidFill>
                  <a:schemeClr val="bg1"/>
                </a:solidFill>
              </a:rPr>
              <a:t> VARCHAR(150),</a:t>
            </a:r>
          </a:p>
          <a:p>
            <a:r>
              <a:rPr lang="en-IN" sz="1100" dirty="0">
                <a:solidFill>
                  <a:schemeClr val="bg1"/>
                </a:solidFill>
              </a:rPr>
              <a:t>    </a:t>
            </a:r>
            <a:r>
              <a:rPr lang="en-IN" sz="1100" dirty="0" err="1">
                <a:solidFill>
                  <a:schemeClr val="bg1"/>
                </a:solidFill>
              </a:rPr>
              <a:t>placement_status</a:t>
            </a:r>
            <a:r>
              <a:rPr lang="en-IN" sz="1100" dirty="0">
                <a:solidFill>
                  <a:schemeClr val="bg1"/>
                </a:solidFill>
              </a:rPr>
              <a:t> VARCHAR(20),</a:t>
            </a:r>
          </a:p>
          <a:p>
            <a:r>
              <a:rPr lang="en-IN" sz="1100" dirty="0">
                <a:solidFill>
                  <a:schemeClr val="bg1"/>
                </a:solidFill>
              </a:rPr>
              <a:t>    salary INT,</a:t>
            </a:r>
          </a:p>
          <a:p>
            <a:r>
              <a:rPr lang="en-IN" sz="1100" dirty="0">
                <a:solidFill>
                  <a:schemeClr val="bg1"/>
                </a:solidFill>
              </a:rPr>
              <a:t>    </a:t>
            </a:r>
            <a:r>
              <a:rPr lang="en-IN" sz="1100" dirty="0" err="1">
                <a:solidFill>
                  <a:schemeClr val="bg1"/>
                </a:solidFill>
              </a:rPr>
              <a:t>gpa</a:t>
            </a:r>
            <a:r>
              <a:rPr lang="en-IN" sz="1100" dirty="0">
                <a:solidFill>
                  <a:schemeClr val="bg1"/>
                </a:solidFill>
              </a:rPr>
              <a:t> DECIMAL(3,2),</a:t>
            </a:r>
          </a:p>
          <a:p>
            <a:r>
              <a:rPr lang="en-IN" sz="1100" dirty="0">
                <a:solidFill>
                  <a:schemeClr val="bg1"/>
                </a:solidFill>
              </a:rPr>
              <a:t>    </a:t>
            </a:r>
            <a:r>
              <a:rPr lang="en-IN" sz="1100" dirty="0" err="1">
                <a:solidFill>
                  <a:schemeClr val="bg1"/>
                </a:solidFill>
              </a:rPr>
              <a:t>years_of_experience</a:t>
            </a:r>
            <a:r>
              <a:rPr lang="en-IN" sz="1100" dirty="0">
                <a:solidFill>
                  <a:schemeClr val="bg1"/>
                </a:solidFill>
              </a:rPr>
              <a:t> INT</a:t>
            </a:r>
          </a:p>
          <a:p>
            <a:r>
              <a:rPr lang="en-IN" sz="1100" dirty="0">
                <a:solidFill>
                  <a:schemeClr val="bg1"/>
                </a:solidFill>
              </a:rPr>
              <a:t>);</a:t>
            </a:r>
          </a:p>
        </p:txBody>
      </p:sp>
      <p:sp>
        <p:nvSpPr>
          <p:cNvPr id="13" name="Text 11"/>
          <p:cNvSpPr/>
          <p:nvPr/>
        </p:nvSpPr>
        <p:spPr>
          <a:xfrm>
            <a:off x="659368" y="6040398"/>
            <a:ext cx="13311664" cy="195977"/>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Explanation:</a:t>
            </a:r>
            <a:r>
              <a:rPr lang="en-US" sz="950" dirty="0">
                <a:solidFill>
                  <a:srgbClr val="CAD6DE"/>
                </a:solidFill>
                <a:latin typeface="Cabin" pitchFamily="34" charset="0"/>
                <a:ea typeface="Cabin" pitchFamily="34" charset="-122"/>
                <a:cs typeface="Cabin" pitchFamily="34" charset="-120"/>
              </a:rPr>
              <a:t> This table stores student demographic, academic, and placement data.</a:t>
            </a:r>
            <a:endParaRPr lang="en-US" sz="950" dirty="0"/>
          </a:p>
        </p:txBody>
      </p:sp>
      <p:sp>
        <p:nvSpPr>
          <p:cNvPr id="14" name="Text 12"/>
          <p:cNvSpPr/>
          <p:nvPr/>
        </p:nvSpPr>
        <p:spPr>
          <a:xfrm>
            <a:off x="659368" y="6374130"/>
            <a:ext cx="13311664" cy="195977"/>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Insight:</a:t>
            </a:r>
            <a:r>
              <a:rPr lang="en-US" sz="950" dirty="0">
                <a:solidFill>
                  <a:srgbClr val="CAD6DE"/>
                </a:solidFill>
                <a:latin typeface="Cabin" pitchFamily="34" charset="0"/>
                <a:ea typeface="Cabin" pitchFamily="34" charset="-122"/>
                <a:cs typeface="Cabin" pitchFamily="34" charset="-120"/>
              </a:rPr>
              <a:t> The structure allows tracking placement outcomes and analyzing multiple factors like gender, GPA, degree, and experience.</a:t>
            </a:r>
            <a:endParaRPr lang="en-US" sz="950" dirty="0"/>
          </a:p>
        </p:txBody>
      </p:sp>
      <p:sp>
        <p:nvSpPr>
          <p:cNvPr id="15" name="Text 13"/>
          <p:cNvSpPr/>
          <p:nvPr/>
        </p:nvSpPr>
        <p:spPr>
          <a:xfrm>
            <a:off x="659368" y="6707862"/>
            <a:ext cx="13311664" cy="195977"/>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Measures:</a:t>
            </a:r>
            <a:endParaRPr lang="en-US" sz="950" dirty="0"/>
          </a:p>
        </p:txBody>
      </p:sp>
      <p:sp>
        <p:nvSpPr>
          <p:cNvPr id="16" name="Text 14"/>
          <p:cNvSpPr/>
          <p:nvPr/>
        </p:nvSpPr>
        <p:spPr>
          <a:xfrm>
            <a:off x="659368" y="7041594"/>
            <a:ext cx="13311664" cy="195977"/>
          </a:xfrm>
          <a:prstGeom prst="rect">
            <a:avLst/>
          </a:prstGeom>
          <a:noFill/>
          <a:ln/>
        </p:spPr>
        <p:txBody>
          <a:bodyPr wrap="none" lIns="0" tIns="0" rIns="0" bIns="0" rtlCol="0" anchor="t"/>
          <a:lstStyle/>
          <a:p>
            <a:pPr marL="342900" indent="-342900" algn="l">
              <a:lnSpc>
                <a:spcPts val="1500"/>
              </a:lnSpc>
              <a:buSzPct val="100000"/>
              <a:buChar char="•"/>
            </a:pPr>
            <a:r>
              <a:rPr lang="en-US" sz="950" dirty="0">
                <a:solidFill>
                  <a:srgbClr val="CAD6DE"/>
                </a:solidFill>
                <a:latin typeface="Cabin" pitchFamily="34" charset="0"/>
                <a:ea typeface="Cabin" pitchFamily="34" charset="-122"/>
                <a:cs typeface="Cabin" pitchFamily="34" charset="-120"/>
              </a:rPr>
              <a:t>Maintain consistent naming conventions.</a:t>
            </a:r>
            <a:endParaRPr lang="en-US" sz="950" dirty="0"/>
          </a:p>
        </p:txBody>
      </p:sp>
      <p:sp>
        <p:nvSpPr>
          <p:cNvPr id="17" name="Text 15"/>
          <p:cNvSpPr/>
          <p:nvPr/>
        </p:nvSpPr>
        <p:spPr>
          <a:xfrm>
            <a:off x="659368" y="7280315"/>
            <a:ext cx="13311664" cy="195977"/>
          </a:xfrm>
          <a:prstGeom prst="rect">
            <a:avLst/>
          </a:prstGeom>
          <a:noFill/>
          <a:ln/>
        </p:spPr>
        <p:txBody>
          <a:bodyPr wrap="none" lIns="0" tIns="0" rIns="0" bIns="0" rtlCol="0" anchor="t"/>
          <a:lstStyle/>
          <a:p>
            <a:pPr marL="342900" indent="-342900" algn="l">
              <a:lnSpc>
                <a:spcPts val="1500"/>
              </a:lnSpc>
              <a:buSzPct val="100000"/>
              <a:buChar char="•"/>
            </a:pPr>
            <a:r>
              <a:rPr lang="en-US" sz="950" dirty="0">
                <a:solidFill>
                  <a:srgbClr val="CAD6DE"/>
                </a:solidFill>
                <a:latin typeface="Cabin" pitchFamily="34" charset="0"/>
                <a:ea typeface="Cabin" pitchFamily="34" charset="-122"/>
                <a:cs typeface="Cabin" pitchFamily="34" charset="-120"/>
              </a:rPr>
              <a:t>Use constraints and data validation rules to avoid null or incorrect data entries.</a:t>
            </a:r>
            <a:endParaRPr lang="en-US" sz="950" dirty="0"/>
          </a:p>
        </p:txBody>
      </p:sp>
      <p:sp>
        <p:nvSpPr>
          <p:cNvPr id="18" name="Text 16"/>
          <p:cNvSpPr/>
          <p:nvPr/>
        </p:nvSpPr>
        <p:spPr>
          <a:xfrm>
            <a:off x="659368" y="7519035"/>
            <a:ext cx="13311664" cy="195977"/>
          </a:xfrm>
          <a:prstGeom prst="rect">
            <a:avLst/>
          </a:prstGeom>
          <a:noFill/>
          <a:ln/>
        </p:spPr>
        <p:txBody>
          <a:bodyPr wrap="none" lIns="0" tIns="0" rIns="0" bIns="0" rtlCol="0" anchor="t"/>
          <a:lstStyle/>
          <a:p>
            <a:pPr marL="342900" indent="-342900" algn="l">
              <a:lnSpc>
                <a:spcPts val="1500"/>
              </a:lnSpc>
              <a:buSzPct val="100000"/>
              <a:buChar char="•"/>
            </a:pPr>
            <a:r>
              <a:rPr lang="en-US" sz="950" dirty="0">
                <a:solidFill>
                  <a:srgbClr val="CAD6DE"/>
                </a:solidFill>
                <a:latin typeface="Cabin" pitchFamily="34" charset="0"/>
                <a:ea typeface="Cabin" pitchFamily="34" charset="-122"/>
                <a:cs typeface="Cabin" pitchFamily="34" charset="-120"/>
              </a:rPr>
              <a:t>Regularly update placement_status and salary fields for real-time insights.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1616" y="421719"/>
            <a:ext cx="7550944" cy="293132"/>
          </a:xfrm>
          <a:prstGeom prst="rect">
            <a:avLst/>
          </a:prstGeom>
          <a:noFill/>
          <a:ln/>
        </p:spPr>
        <p:txBody>
          <a:bodyPr wrap="none" lIns="0" tIns="0" rIns="0" bIns="0" rtlCol="0" anchor="t"/>
          <a:lstStyle/>
          <a:p>
            <a:pPr marL="0" indent="0" algn="l">
              <a:lnSpc>
                <a:spcPts val="2300"/>
              </a:lnSpc>
              <a:buNone/>
            </a:pPr>
            <a:r>
              <a:rPr lang="en-US" sz="1800" dirty="0">
                <a:solidFill>
                  <a:srgbClr val="FFFFFF"/>
                </a:solidFill>
                <a:latin typeface="Unbounded" pitchFamily="34" charset="0"/>
                <a:ea typeface="Unbounded" pitchFamily="34" charset="-122"/>
                <a:cs typeface="Unbounded" pitchFamily="34" charset="-120"/>
              </a:rPr>
              <a:t>Q1 &amp; Q2: Salary Analysis and Gender-Based Placement</a:t>
            </a:r>
            <a:endParaRPr lang="en-US" sz="1800" dirty="0"/>
          </a:p>
        </p:txBody>
      </p:sp>
      <p:sp>
        <p:nvSpPr>
          <p:cNvPr id="3" name="Text 1"/>
          <p:cNvSpPr/>
          <p:nvPr/>
        </p:nvSpPr>
        <p:spPr>
          <a:xfrm>
            <a:off x="541616" y="754618"/>
            <a:ext cx="3181112" cy="175855"/>
          </a:xfrm>
          <a:prstGeom prst="rect">
            <a:avLst/>
          </a:prstGeom>
          <a:noFill/>
          <a:ln/>
        </p:spPr>
        <p:txBody>
          <a:bodyPr wrap="none" lIns="0" tIns="0" rIns="0" bIns="0" rtlCol="0" anchor="t"/>
          <a:lstStyle/>
          <a:p>
            <a:pPr marL="0" indent="0" algn="l">
              <a:lnSpc>
                <a:spcPts val="1350"/>
              </a:lnSpc>
              <a:buNone/>
            </a:pPr>
            <a:r>
              <a:rPr lang="en-US" sz="1100" dirty="0">
                <a:solidFill>
                  <a:schemeClr val="bg2">
                    <a:lumMod val="75000"/>
                  </a:schemeClr>
                </a:solidFill>
                <a:latin typeface="Unbounded" pitchFamily="34" charset="0"/>
                <a:ea typeface="Unbounded" pitchFamily="34" charset="-122"/>
                <a:cs typeface="Unbounded" pitchFamily="34" charset="-120"/>
              </a:rPr>
              <a:t>Q1. Average Salary of Placed Students</a:t>
            </a:r>
            <a:endParaRPr lang="en-US" sz="1100" dirty="0">
              <a:solidFill>
                <a:schemeClr val="bg2">
                  <a:lumMod val="75000"/>
                </a:schemeClr>
              </a:solidFill>
            </a:endParaRPr>
          </a:p>
        </p:txBody>
      </p:sp>
      <p:sp>
        <p:nvSpPr>
          <p:cNvPr id="4" name="Shape 2"/>
          <p:cNvSpPr/>
          <p:nvPr/>
        </p:nvSpPr>
        <p:spPr>
          <a:xfrm>
            <a:off x="541616" y="1079897"/>
            <a:ext cx="13556933" cy="1265277"/>
          </a:xfrm>
          <a:prstGeom prst="roundRect">
            <a:avLst>
              <a:gd name="adj" fmla="val 1182"/>
            </a:avLst>
          </a:prstGeom>
          <a:solidFill>
            <a:srgbClr val="1E3543"/>
          </a:solidFill>
          <a:ln/>
        </p:spPr>
        <p:txBody>
          <a:bodyPr/>
          <a:lstStyle/>
          <a:p>
            <a:endParaRPr lang="en-IN"/>
          </a:p>
        </p:txBody>
      </p:sp>
      <p:sp>
        <p:nvSpPr>
          <p:cNvPr id="5" name="Shape 3"/>
          <p:cNvSpPr/>
          <p:nvPr/>
        </p:nvSpPr>
        <p:spPr>
          <a:xfrm>
            <a:off x="536734" y="1079897"/>
            <a:ext cx="13566696" cy="1265277"/>
          </a:xfrm>
          <a:prstGeom prst="roundRect">
            <a:avLst>
              <a:gd name="adj" fmla="val 1182"/>
            </a:avLst>
          </a:prstGeom>
          <a:solidFill>
            <a:schemeClr val="tx2">
              <a:lumMod val="60000"/>
              <a:lumOff val="40000"/>
            </a:schemeClr>
          </a:solidFill>
          <a:ln/>
        </p:spPr>
        <p:txBody>
          <a:bodyPr/>
          <a:lstStyle/>
          <a:p>
            <a:endParaRPr lang="en-IN"/>
          </a:p>
        </p:txBody>
      </p:sp>
      <p:sp>
        <p:nvSpPr>
          <p:cNvPr id="6" name="Text 4"/>
          <p:cNvSpPr/>
          <p:nvPr/>
        </p:nvSpPr>
        <p:spPr>
          <a:xfrm>
            <a:off x="636390" y="1154549"/>
            <a:ext cx="13367385" cy="1115973"/>
          </a:xfrm>
          <a:prstGeom prst="rect">
            <a:avLst/>
          </a:prstGeom>
          <a:noFill/>
          <a:ln/>
        </p:spPr>
        <p:txBody>
          <a:bodyPr wrap="square" lIns="0" tIns="0" rIns="0" bIns="0" rtlCol="0" anchor="t"/>
          <a:lstStyle/>
          <a:p>
            <a:r>
              <a:rPr lang="en-US" sz="900" dirty="0">
                <a:solidFill>
                  <a:schemeClr val="bg1"/>
                </a:solidFill>
              </a:rPr>
              <a:t>WITH placed AS (</a:t>
            </a:r>
          </a:p>
          <a:p>
            <a:r>
              <a:rPr lang="en-US" sz="900" dirty="0">
                <a:solidFill>
                  <a:schemeClr val="bg1"/>
                </a:solidFill>
              </a:rPr>
              <a:t>  SELECT salary</a:t>
            </a:r>
          </a:p>
          <a:p>
            <a:r>
              <a:rPr lang="en-US" sz="900" dirty="0">
                <a:solidFill>
                  <a:schemeClr val="bg1"/>
                </a:solidFill>
              </a:rPr>
              <a:t>  FROM job</a:t>
            </a:r>
          </a:p>
          <a:p>
            <a:r>
              <a:rPr lang="en-US" sz="900" dirty="0">
                <a:solidFill>
                  <a:schemeClr val="bg1"/>
                </a:solidFill>
              </a:rPr>
              <a:t>  WHERE </a:t>
            </a:r>
            <a:r>
              <a:rPr lang="en-US" sz="900" dirty="0" err="1">
                <a:solidFill>
                  <a:schemeClr val="bg1"/>
                </a:solidFill>
              </a:rPr>
              <a:t>placement_status</a:t>
            </a:r>
            <a:r>
              <a:rPr lang="en-US" sz="900" dirty="0">
                <a:solidFill>
                  <a:schemeClr val="bg1"/>
                </a:solidFill>
              </a:rPr>
              <a:t> = 'Placed'</a:t>
            </a:r>
          </a:p>
          <a:p>
            <a:r>
              <a:rPr lang="en-US" sz="900" dirty="0">
                <a:solidFill>
                  <a:schemeClr val="bg1"/>
                </a:solidFill>
              </a:rPr>
              <a:t>)</a:t>
            </a:r>
          </a:p>
          <a:p>
            <a:r>
              <a:rPr lang="en-US" sz="900" dirty="0">
                <a:solidFill>
                  <a:schemeClr val="bg1"/>
                </a:solidFill>
              </a:rPr>
              <a:t>SELECT ROUND(AVG(salary), 2) AS </a:t>
            </a:r>
            <a:r>
              <a:rPr lang="en-US" sz="900" dirty="0" err="1">
                <a:solidFill>
                  <a:schemeClr val="bg1"/>
                </a:solidFill>
              </a:rPr>
              <a:t>avg_salary_placed</a:t>
            </a:r>
            <a:endParaRPr lang="en-US" sz="900" dirty="0">
              <a:solidFill>
                <a:schemeClr val="bg1"/>
              </a:solidFill>
            </a:endParaRPr>
          </a:p>
          <a:p>
            <a:r>
              <a:rPr lang="en-US" sz="900" dirty="0">
                <a:solidFill>
                  <a:schemeClr val="bg1"/>
                </a:solidFill>
              </a:rPr>
              <a:t>FROM placed;</a:t>
            </a:r>
          </a:p>
        </p:txBody>
      </p:sp>
      <p:sp>
        <p:nvSpPr>
          <p:cNvPr id="7" name="Text 5"/>
          <p:cNvSpPr/>
          <p:nvPr/>
        </p:nvSpPr>
        <p:spPr>
          <a:xfrm>
            <a:off x="541616" y="2457212"/>
            <a:ext cx="13556933" cy="159425"/>
          </a:xfrm>
          <a:prstGeom prst="rect">
            <a:avLst/>
          </a:prstGeom>
          <a:noFill/>
          <a:ln/>
        </p:spPr>
        <p:txBody>
          <a:bodyPr wrap="none" lIns="0" tIns="0" rIns="0" bIns="0" rtlCol="0" anchor="t"/>
          <a:lstStyle/>
          <a:p>
            <a:pPr marL="0" indent="0" algn="l">
              <a:lnSpc>
                <a:spcPts val="1250"/>
              </a:lnSpc>
              <a:buNone/>
            </a:pPr>
            <a:r>
              <a:rPr lang="en-US" sz="750" b="1" dirty="0">
                <a:solidFill>
                  <a:srgbClr val="CAD6DE"/>
                </a:solidFill>
                <a:latin typeface="Cabin" pitchFamily="34" charset="0"/>
                <a:ea typeface="Cabin" pitchFamily="34" charset="-122"/>
                <a:cs typeface="Cabin" pitchFamily="34" charset="-120"/>
              </a:rPr>
              <a:t>Explanation:</a:t>
            </a:r>
            <a:r>
              <a:rPr lang="en-US" sz="750" dirty="0">
                <a:solidFill>
                  <a:srgbClr val="CAD6DE"/>
                </a:solidFill>
                <a:latin typeface="Cabin" pitchFamily="34" charset="0"/>
                <a:ea typeface="Cabin" pitchFamily="34" charset="-122"/>
                <a:cs typeface="Cabin" pitchFamily="34" charset="-120"/>
              </a:rPr>
              <a:t> This query filters out all placed students and calculates the average salary among them.</a:t>
            </a:r>
            <a:endParaRPr lang="en-US" sz="750" dirty="0"/>
          </a:p>
        </p:txBody>
      </p:sp>
      <p:sp>
        <p:nvSpPr>
          <p:cNvPr id="8" name="Text 6"/>
          <p:cNvSpPr/>
          <p:nvPr/>
        </p:nvSpPr>
        <p:spPr>
          <a:xfrm>
            <a:off x="541616" y="2728674"/>
            <a:ext cx="13556933" cy="159425"/>
          </a:xfrm>
          <a:prstGeom prst="rect">
            <a:avLst/>
          </a:prstGeom>
          <a:noFill/>
          <a:ln/>
        </p:spPr>
        <p:txBody>
          <a:bodyPr wrap="none" lIns="0" tIns="0" rIns="0" bIns="0" rtlCol="0" anchor="t"/>
          <a:lstStyle/>
          <a:p>
            <a:pPr marL="0" indent="0" algn="l">
              <a:lnSpc>
                <a:spcPts val="1250"/>
              </a:lnSpc>
              <a:buNone/>
            </a:pPr>
            <a:r>
              <a:rPr lang="en-US" sz="750" b="1" dirty="0">
                <a:solidFill>
                  <a:srgbClr val="CAD6DE"/>
                </a:solidFill>
                <a:latin typeface="Cabin" pitchFamily="34" charset="0"/>
                <a:ea typeface="Cabin" pitchFamily="34" charset="-122"/>
                <a:cs typeface="Cabin" pitchFamily="34" charset="-120"/>
              </a:rPr>
              <a:t>Insight:</a:t>
            </a:r>
            <a:r>
              <a:rPr lang="en-US" sz="750" dirty="0">
                <a:solidFill>
                  <a:srgbClr val="CAD6DE"/>
                </a:solidFill>
                <a:latin typeface="Cabin" pitchFamily="34" charset="0"/>
                <a:ea typeface="Cabin" pitchFamily="34" charset="-122"/>
                <a:cs typeface="Cabin" pitchFamily="34" charset="-120"/>
              </a:rPr>
              <a:t> Determines the average salary earned by successfully placed candidates.</a:t>
            </a:r>
            <a:endParaRPr lang="en-US" sz="750" dirty="0"/>
          </a:p>
        </p:txBody>
      </p:sp>
      <p:sp>
        <p:nvSpPr>
          <p:cNvPr id="9" name="Text 7"/>
          <p:cNvSpPr/>
          <p:nvPr/>
        </p:nvSpPr>
        <p:spPr>
          <a:xfrm>
            <a:off x="541616" y="3000137"/>
            <a:ext cx="13556933" cy="159425"/>
          </a:xfrm>
          <a:prstGeom prst="rect">
            <a:avLst/>
          </a:prstGeom>
          <a:noFill/>
          <a:ln/>
        </p:spPr>
        <p:txBody>
          <a:bodyPr wrap="none" lIns="0" tIns="0" rIns="0" bIns="0" rtlCol="0" anchor="t"/>
          <a:lstStyle/>
          <a:p>
            <a:pPr marL="0" indent="0" algn="l">
              <a:lnSpc>
                <a:spcPts val="1250"/>
              </a:lnSpc>
              <a:buNone/>
            </a:pPr>
            <a:r>
              <a:rPr lang="en-US" sz="750" b="1" dirty="0">
                <a:solidFill>
                  <a:srgbClr val="CAD6DE"/>
                </a:solidFill>
                <a:latin typeface="Cabin" pitchFamily="34" charset="0"/>
                <a:ea typeface="Cabin" pitchFamily="34" charset="-122"/>
                <a:cs typeface="Cabin" pitchFamily="34" charset="-120"/>
              </a:rPr>
              <a:t>Measures:</a:t>
            </a:r>
            <a:r>
              <a:rPr lang="en-US" sz="750" dirty="0">
                <a:solidFill>
                  <a:srgbClr val="CAD6DE"/>
                </a:solidFill>
                <a:latin typeface="Cabin" pitchFamily="34" charset="0"/>
                <a:ea typeface="Cabin" pitchFamily="34" charset="-122"/>
                <a:cs typeface="Cabin" pitchFamily="34" charset="-120"/>
              </a:rPr>
              <a:t> Use this as a benchmark to evaluate future placement performance. Strengthen partnerships with companies offering above-average packages. Identify and address skill gaps to raise the overall average.</a:t>
            </a:r>
            <a:endParaRPr lang="en-US" sz="750" dirty="0"/>
          </a:p>
        </p:txBody>
      </p:sp>
      <p:sp>
        <p:nvSpPr>
          <p:cNvPr id="10" name="Shape 8"/>
          <p:cNvSpPr/>
          <p:nvPr/>
        </p:nvSpPr>
        <p:spPr>
          <a:xfrm>
            <a:off x="541616" y="3321405"/>
            <a:ext cx="13556933" cy="20003"/>
          </a:xfrm>
          <a:prstGeom prst="rect">
            <a:avLst/>
          </a:prstGeom>
          <a:solidFill>
            <a:srgbClr val="CAD6DE">
              <a:alpha val="50000"/>
            </a:srgbClr>
          </a:solidFill>
          <a:ln/>
        </p:spPr>
        <p:txBody>
          <a:bodyPr/>
          <a:lstStyle/>
          <a:p>
            <a:endParaRPr lang="en-IN"/>
          </a:p>
        </p:txBody>
      </p:sp>
      <p:sp>
        <p:nvSpPr>
          <p:cNvPr id="11" name="Text 9"/>
          <p:cNvSpPr/>
          <p:nvPr/>
        </p:nvSpPr>
        <p:spPr>
          <a:xfrm>
            <a:off x="541616" y="3490793"/>
            <a:ext cx="2884527" cy="175855"/>
          </a:xfrm>
          <a:prstGeom prst="rect">
            <a:avLst/>
          </a:prstGeom>
          <a:noFill/>
          <a:ln/>
        </p:spPr>
        <p:txBody>
          <a:bodyPr wrap="none" lIns="0" tIns="0" rIns="0" bIns="0" rtlCol="0" anchor="t"/>
          <a:lstStyle/>
          <a:p>
            <a:pPr marL="0" indent="0" algn="l">
              <a:lnSpc>
                <a:spcPts val="1350"/>
              </a:lnSpc>
              <a:buNone/>
            </a:pPr>
            <a:r>
              <a:rPr lang="en-US" sz="1100" dirty="0">
                <a:solidFill>
                  <a:schemeClr val="bg2">
                    <a:lumMod val="75000"/>
                  </a:schemeClr>
                </a:solidFill>
                <a:latin typeface="Unbounded" pitchFamily="34" charset="0"/>
                <a:ea typeface="Unbounded" pitchFamily="34" charset="-122"/>
                <a:cs typeface="Unbounded" pitchFamily="34" charset="-120"/>
              </a:rPr>
              <a:t>Q2. Gender-Based Placement Rate</a:t>
            </a:r>
            <a:endParaRPr lang="en-US" sz="1100" dirty="0">
              <a:solidFill>
                <a:schemeClr val="bg2">
                  <a:lumMod val="75000"/>
                </a:schemeClr>
              </a:solidFill>
            </a:endParaRPr>
          </a:p>
        </p:txBody>
      </p:sp>
      <p:sp>
        <p:nvSpPr>
          <p:cNvPr id="12" name="Shape 10"/>
          <p:cNvSpPr/>
          <p:nvPr/>
        </p:nvSpPr>
        <p:spPr>
          <a:xfrm>
            <a:off x="541616" y="3816072"/>
            <a:ext cx="13556933" cy="3178373"/>
          </a:xfrm>
          <a:prstGeom prst="roundRect">
            <a:avLst>
              <a:gd name="adj" fmla="val 470"/>
            </a:avLst>
          </a:prstGeom>
          <a:solidFill>
            <a:srgbClr val="1E3543"/>
          </a:solidFill>
          <a:ln/>
        </p:spPr>
        <p:txBody>
          <a:bodyPr/>
          <a:lstStyle/>
          <a:p>
            <a:endParaRPr lang="en-IN"/>
          </a:p>
        </p:txBody>
      </p:sp>
      <p:sp>
        <p:nvSpPr>
          <p:cNvPr id="13" name="Shape 11"/>
          <p:cNvSpPr/>
          <p:nvPr/>
        </p:nvSpPr>
        <p:spPr>
          <a:xfrm>
            <a:off x="536734" y="3816072"/>
            <a:ext cx="13566696" cy="3178373"/>
          </a:xfrm>
          <a:prstGeom prst="roundRect">
            <a:avLst>
              <a:gd name="adj" fmla="val 470"/>
            </a:avLst>
          </a:prstGeom>
          <a:solidFill>
            <a:schemeClr val="tx2">
              <a:lumMod val="60000"/>
              <a:lumOff val="40000"/>
            </a:schemeClr>
          </a:solidFill>
          <a:ln/>
        </p:spPr>
        <p:txBody>
          <a:bodyPr/>
          <a:lstStyle/>
          <a:p>
            <a:endParaRPr lang="en-IN" dirty="0"/>
          </a:p>
        </p:txBody>
      </p:sp>
      <p:sp>
        <p:nvSpPr>
          <p:cNvPr id="14" name="Text 12"/>
          <p:cNvSpPr/>
          <p:nvPr/>
        </p:nvSpPr>
        <p:spPr>
          <a:xfrm>
            <a:off x="636390" y="3890724"/>
            <a:ext cx="13367385" cy="3029069"/>
          </a:xfrm>
          <a:prstGeom prst="rect">
            <a:avLst/>
          </a:prstGeom>
          <a:noFill/>
          <a:ln/>
        </p:spPr>
        <p:txBody>
          <a:bodyPr wrap="square" lIns="0" tIns="0" rIns="0" bIns="0" rtlCol="0" anchor="t"/>
          <a:lstStyle/>
          <a:p>
            <a:r>
              <a:rPr lang="en-US" sz="900" dirty="0">
                <a:solidFill>
                  <a:schemeClr val="bg1"/>
                </a:solidFill>
              </a:rPr>
              <a:t>WITH base AS (</a:t>
            </a:r>
          </a:p>
          <a:p>
            <a:r>
              <a:rPr lang="en-US" sz="900" dirty="0">
                <a:solidFill>
                  <a:schemeClr val="bg1"/>
                </a:solidFill>
              </a:rPr>
              <a:t>  SELECT gender, </a:t>
            </a:r>
            <a:r>
              <a:rPr lang="en-US" sz="900" dirty="0" err="1">
                <a:solidFill>
                  <a:schemeClr val="bg1"/>
                </a:solidFill>
              </a:rPr>
              <a:t>placement_status</a:t>
            </a:r>
            <a:endParaRPr lang="en-US" sz="900" dirty="0">
              <a:solidFill>
                <a:schemeClr val="bg1"/>
              </a:solidFill>
            </a:endParaRPr>
          </a:p>
          <a:p>
            <a:r>
              <a:rPr lang="en-US" sz="900" dirty="0">
                <a:solidFill>
                  <a:schemeClr val="bg1"/>
                </a:solidFill>
              </a:rPr>
              <a:t>  FROM job</a:t>
            </a:r>
          </a:p>
          <a:p>
            <a:r>
              <a:rPr lang="en-US" sz="900" dirty="0">
                <a:solidFill>
                  <a:schemeClr val="bg1"/>
                </a:solidFill>
              </a:rPr>
              <a:t>),</a:t>
            </a:r>
          </a:p>
          <a:p>
            <a:r>
              <a:rPr lang="en-US" sz="900" dirty="0">
                <a:solidFill>
                  <a:schemeClr val="bg1"/>
                </a:solidFill>
              </a:rPr>
              <a:t>counts AS (</a:t>
            </a:r>
          </a:p>
          <a:p>
            <a:r>
              <a:rPr lang="en-US" sz="900" dirty="0">
                <a:solidFill>
                  <a:schemeClr val="bg1"/>
                </a:solidFill>
              </a:rPr>
              <a:t>  SELECT</a:t>
            </a:r>
          </a:p>
          <a:p>
            <a:r>
              <a:rPr lang="en-US" sz="900" dirty="0">
                <a:solidFill>
                  <a:schemeClr val="bg1"/>
                </a:solidFill>
              </a:rPr>
              <a:t>    gender,</a:t>
            </a:r>
          </a:p>
          <a:p>
            <a:r>
              <a:rPr lang="en-US" sz="900" dirty="0">
                <a:solidFill>
                  <a:schemeClr val="bg1"/>
                </a:solidFill>
              </a:rPr>
              <a:t>    COUNT(*) AS total,</a:t>
            </a:r>
          </a:p>
          <a:p>
            <a:r>
              <a:rPr lang="en-US" sz="900" dirty="0">
                <a:solidFill>
                  <a:schemeClr val="bg1"/>
                </a:solidFill>
              </a:rPr>
              <a:t>    SUM(CASE WHEN </a:t>
            </a:r>
            <a:r>
              <a:rPr lang="en-US" sz="900" dirty="0" err="1">
                <a:solidFill>
                  <a:schemeClr val="bg1"/>
                </a:solidFill>
              </a:rPr>
              <a:t>placement_status</a:t>
            </a:r>
            <a:r>
              <a:rPr lang="en-US" sz="900" dirty="0">
                <a:solidFill>
                  <a:schemeClr val="bg1"/>
                </a:solidFill>
              </a:rPr>
              <a:t> = 'Placed' THEN 1 ELSE 0 END) AS placed</a:t>
            </a:r>
          </a:p>
          <a:p>
            <a:r>
              <a:rPr lang="en-US" sz="900" dirty="0">
                <a:solidFill>
                  <a:schemeClr val="bg1"/>
                </a:solidFill>
              </a:rPr>
              <a:t>  FROM base</a:t>
            </a:r>
          </a:p>
          <a:p>
            <a:r>
              <a:rPr lang="en-US" sz="900" dirty="0">
                <a:solidFill>
                  <a:schemeClr val="bg1"/>
                </a:solidFill>
              </a:rPr>
              <a:t>  GROUP BY gender</a:t>
            </a:r>
          </a:p>
          <a:p>
            <a:r>
              <a:rPr lang="en-US" sz="900" dirty="0">
                <a:solidFill>
                  <a:schemeClr val="bg1"/>
                </a:solidFill>
              </a:rPr>
              <a:t>)</a:t>
            </a:r>
          </a:p>
          <a:p>
            <a:r>
              <a:rPr lang="en-US" sz="900" dirty="0">
                <a:solidFill>
                  <a:schemeClr val="bg1"/>
                </a:solidFill>
              </a:rPr>
              <a:t>SELECT</a:t>
            </a:r>
          </a:p>
          <a:p>
            <a:r>
              <a:rPr lang="en-US" sz="900" dirty="0">
                <a:solidFill>
                  <a:schemeClr val="bg1"/>
                </a:solidFill>
              </a:rPr>
              <a:t>  gender,</a:t>
            </a:r>
          </a:p>
          <a:p>
            <a:r>
              <a:rPr lang="en-US" sz="900" dirty="0">
                <a:solidFill>
                  <a:schemeClr val="bg1"/>
                </a:solidFill>
              </a:rPr>
              <a:t>  total,</a:t>
            </a:r>
          </a:p>
          <a:p>
            <a:r>
              <a:rPr lang="en-US" sz="900" dirty="0">
                <a:solidFill>
                  <a:schemeClr val="bg1"/>
                </a:solidFill>
              </a:rPr>
              <a:t>  placed,</a:t>
            </a:r>
          </a:p>
          <a:p>
            <a:r>
              <a:rPr lang="en-US" sz="900" dirty="0">
                <a:solidFill>
                  <a:schemeClr val="bg1"/>
                </a:solidFill>
              </a:rPr>
              <a:t>  ROUND(100.0 * placed / NULLIF(total, 0), 2) AS </a:t>
            </a:r>
            <a:r>
              <a:rPr lang="en-US" sz="900" dirty="0" err="1">
                <a:solidFill>
                  <a:schemeClr val="bg1"/>
                </a:solidFill>
              </a:rPr>
              <a:t>placement_rate_pct</a:t>
            </a:r>
            <a:endParaRPr lang="en-US" sz="900" dirty="0">
              <a:solidFill>
                <a:schemeClr val="bg1"/>
              </a:solidFill>
            </a:endParaRPr>
          </a:p>
          <a:p>
            <a:r>
              <a:rPr lang="en-US" sz="900" dirty="0">
                <a:solidFill>
                  <a:schemeClr val="bg1"/>
                </a:solidFill>
              </a:rPr>
              <a:t>FROM counts</a:t>
            </a:r>
          </a:p>
          <a:p>
            <a:r>
              <a:rPr lang="en-US" sz="900" dirty="0">
                <a:solidFill>
                  <a:schemeClr val="bg1"/>
                </a:solidFill>
              </a:rPr>
              <a:t>ORDER BY gender;</a:t>
            </a:r>
          </a:p>
        </p:txBody>
      </p:sp>
      <p:sp>
        <p:nvSpPr>
          <p:cNvPr id="15" name="Text 13"/>
          <p:cNvSpPr/>
          <p:nvPr/>
        </p:nvSpPr>
        <p:spPr>
          <a:xfrm>
            <a:off x="541616" y="7106483"/>
            <a:ext cx="13556933" cy="159425"/>
          </a:xfrm>
          <a:prstGeom prst="rect">
            <a:avLst/>
          </a:prstGeom>
          <a:noFill/>
          <a:ln/>
        </p:spPr>
        <p:txBody>
          <a:bodyPr wrap="none" lIns="0" tIns="0" rIns="0" bIns="0" rtlCol="0" anchor="t"/>
          <a:lstStyle/>
          <a:p>
            <a:pPr marL="0" indent="0" algn="l">
              <a:lnSpc>
                <a:spcPts val="1250"/>
              </a:lnSpc>
              <a:buNone/>
            </a:pPr>
            <a:r>
              <a:rPr lang="en-US" sz="750" b="1" dirty="0">
                <a:solidFill>
                  <a:srgbClr val="CAD6DE"/>
                </a:solidFill>
                <a:latin typeface="Cabin" pitchFamily="34" charset="0"/>
                <a:ea typeface="Cabin" pitchFamily="34" charset="-122"/>
                <a:cs typeface="Cabin" pitchFamily="34" charset="-120"/>
              </a:rPr>
              <a:t>Explanation:</a:t>
            </a:r>
            <a:r>
              <a:rPr lang="en-US" sz="750" dirty="0">
                <a:solidFill>
                  <a:srgbClr val="CAD6DE"/>
                </a:solidFill>
                <a:latin typeface="Cabin" pitchFamily="34" charset="0"/>
                <a:ea typeface="Cabin" pitchFamily="34" charset="-122"/>
                <a:cs typeface="Cabin" pitchFamily="34" charset="-120"/>
              </a:rPr>
              <a:t> Calculates the placement rate for each gender by dividing placed students by the total number of students.</a:t>
            </a:r>
            <a:endParaRPr lang="en-US" sz="750" dirty="0"/>
          </a:p>
        </p:txBody>
      </p:sp>
      <p:sp>
        <p:nvSpPr>
          <p:cNvPr id="16" name="Text 14"/>
          <p:cNvSpPr/>
          <p:nvPr/>
        </p:nvSpPr>
        <p:spPr>
          <a:xfrm>
            <a:off x="541616" y="7377946"/>
            <a:ext cx="13556933" cy="159425"/>
          </a:xfrm>
          <a:prstGeom prst="rect">
            <a:avLst/>
          </a:prstGeom>
          <a:noFill/>
          <a:ln/>
        </p:spPr>
        <p:txBody>
          <a:bodyPr wrap="none" lIns="0" tIns="0" rIns="0" bIns="0" rtlCol="0" anchor="t"/>
          <a:lstStyle/>
          <a:p>
            <a:pPr marL="0" indent="0" algn="l">
              <a:lnSpc>
                <a:spcPts val="1250"/>
              </a:lnSpc>
              <a:buNone/>
            </a:pPr>
            <a:r>
              <a:rPr lang="en-US" sz="750" b="1" dirty="0">
                <a:solidFill>
                  <a:srgbClr val="CAD6DE"/>
                </a:solidFill>
                <a:latin typeface="Cabin" pitchFamily="34" charset="0"/>
                <a:ea typeface="Cabin" pitchFamily="34" charset="-122"/>
                <a:cs typeface="Cabin" pitchFamily="34" charset="-120"/>
              </a:rPr>
              <a:t>Insight:</a:t>
            </a:r>
            <a:r>
              <a:rPr lang="en-US" sz="750" dirty="0">
                <a:solidFill>
                  <a:srgbClr val="CAD6DE"/>
                </a:solidFill>
                <a:latin typeface="Cabin" pitchFamily="34" charset="0"/>
                <a:ea typeface="Cabin" pitchFamily="34" charset="-122"/>
                <a:cs typeface="Cabin" pitchFamily="34" charset="-120"/>
              </a:rPr>
              <a:t> Shows the placement distribution by gender, identifying whether opportunities are balanced across male and female students.</a:t>
            </a:r>
            <a:endParaRPr lang="en-US" sz="750" dirty="0"/>
          </a:p>
        </p:txBody>
      </p:sp>
      <p:sp>
        <p:nvSpPr>
          <p:cNvPr id="17" name="Text 15"/>
          <p:cNvSpPr/>
          <p:nvPr/>
        </p:nvSpPr>
        <p:spPr>
          <a:xfrm>
            <a:off x="541616" y="7649408"/>
            <a:ext cx="13556933" cy="159425"/>
          </a:xfrm>
          <a:prstGeom prst="rect">
            <a:avLst/>
          </a:prstGeom>
          <a:noFill/>
          <a:ln/>
        </p:spPr>
        <p:txBody>
          <a:bodyPr wrap="none" lIns="0" tIns="0" rIns="0" bIns="0" rtlCol="0" anchor="t"/>
          <a:lstStyle/>
          <a:p>
            <a:pPr marL="0" indent="0" algn="l">
              <a:lnSpc>
                <a:spcPts val="1250"/>
              </a:lnSpc>
              <a:buNone/>
            </a:pPr>
            <a:r>
              <a:rPr lang="en-US" sz="750" b="1" dirty="0">
                <a:solidFill>
                  <a:srgbClr val="CAD6DE"/>
                </a:solidFill>
                <a:latin typeface="Cabin" pitchFamily="34" charset="0"/>
                <a:ea typeface="Cabin" pitchFamily="34" charset="-122"/>
                <a:cs typeface="Cabin" pitchFamily="34" charset="-120"/>
              </a:rPr>
              <a:t>Measures:</a:t>
            </a:r>
            <a:r>
              <a:rPr lang="en-US" sz="750" dirty="0">
                <a:solidFill>
                  <a:srgbClr val="CAD6DE"/>
                </a:solidFill>
                <a:latin typeface="Cabin" pitchFamily="34" charset="0"/>
                <a:ea typeface="Cabin" pitchFamily="34" charset="-122"/>
                <a:cs typeface="Cabin" pitchFamily="34" charset="-120"/>
              </a:rPr>
              <a:t> If gender disparity exists, introduce equal opportunity training sessions. Encourage skill-building programs to bridge gaps. Collaborate with companies supporting diverse hiring practices.</a:t>
            </a:r>
            <a:endParaRPr lang="en-US" sz="750" dirty="0"/>
          </a:p>
        </p:txBody>
      </p:sp>
      <p:pic>
        <p:nvPicPr>
          <p:cNvPr id="19" name="Picture 18">
            <a:extLst>
              <a:ext uri="{FF2B5EF4-FFF2-40B4-BE49-F238E27FC236}">
                <a16:creationId xmlns:a16="http://schemas.microsoft.com/office/drawing/2014/main" id="{EDB264B5-11DB-01F6-7342-ACF50338933F}"/>
              </a:ext>
            </a:extLst>
          </p:cNvPr>
          <p:cNvPicPr>
            <a:picLocks noChangeAspect="1"/>
          </p:cNvPicPr>
          <p:nvPr/>
        </p:nvPicPr>
        <p:blipFill>
          <a:blip r:embed="rId3"/>
          <a:stretch>
            <a:fillRect/>
          </a:stretch>
        </p:blipFill>
        <p:spPr>
          <a:xfrm>
            <a:off x="9484162" y="1222090"/>
            <a:ext cx="2666999" cy="983646"/>
          </a:xfrm>
          <a:prstGeom prst="rect">
            <a:avLst/>
          </a:prstGeom>
        </p:spPr>
      </p:pic>
      <p:pic>
        <p:nvPicPr>
          <p:cNvPr id="21" name="Picture 20">
            <a:extLst>
              <a:ext uri="{FF2B5EF4-FFF2-40B4-BE49-F238E27FC236}">
                <a16:creationId xmlns:a16="http://schemas.microsoft.com/office/drawing/2014/main" id="{6693D6B1-FF3B-7C5C-50D0-DF86E27CA479}"/>
              </a:ext>
            </a:extLst>
          </p:cNvPr>
          <p:cNvPicPr>
            <a:picLocks noChangeAspect="1"/>
          </p:cNvPicPr>
          <p:nvPr/>
        </p:nvPicPr>
        <p:blipFill>
          <a:blip r:embed="rId4"/>
          <a:stretch>
            <a:fillRect/>
          </a:stretch>
        </p:blipFill>
        <p:spPr>
          <a:xfrm>
            <a:off x="8302843" y="3964953"/>
            <a:ext cx="5029636" cy="28806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16374" y="405765"/>
            <a:ext cx="6900743" cy="282178"/>
          </a:xfrm>
          <a:prstGeom prst="rect">
            <a:avLst/>
          </a:prstGeom>
          <a:noFill/>
          <a:ln/>
        </p:spPr>
        <p:txBody>
          <a:bodyPr wrap="none" lIns="0" tIns="0" rIns="0" bIns="0" rtlCol="0" anchor="t"/>
          <a:lstStyle/>
          <a:p>
            <a:pPr marL="0" indent="0" algn="l">
              <a:lnSpc>
                <a:spcPts val="2200"/>
              </a:lnSpc>
              <a:buNone/>
            </a:pPr>
            <a:r>
              <a:rPr lang="en-US" sz="1750" dirty="0">
                <a:solidFill>
                  <a:srgbClr val="FFFFFF"/>
                </a:solidFill>
                <a:latin typeface="Unbounded" pitchFamily="34" charset="0"/>
                <a:ea typeface="Unbounded" pitchFamily="34" charset="-122"/>
                <a:cs typeface="Unbounded" pitchFamily="34" charset="-120"/>
              </a:rPr>
              <a:t>Q3 &amp; Q4: College Performance and Stream Analysis</a:t>
            </a:r>
            <a:endParaRPr lang="en-US" sz="1750" dirty="0"/>
          </a:p>
        </p:txBody>
      </p:sp>
      <p:sp>
        <p:nvSpPr>
          <p:cNvPr id="3" name="Text 1"/>
          <p:cNvSpPr/>
          <p:nvPr/>
        </p:nvSpPr>
        <p:spPr>
          <a:xfrm>
            <a:off x="516374" y="726281"/>
            <a:ext cx="5018603" cy="169188"/>
          </a:xfrm>
          <a:prstGeom prst="rect">
            <a:avLst/>
          </a:prstGeom>
          <a:noFill/>
          <a:ln/>
        </p:spPr>
        <p:txBody>
          <a:bodyPr wrap="none" lIns="0" tIns="0" rIns="0" bIns="0" rtlCol="0" anchor="t"/>
          <a:lstStyle/>
          <a:p>
            <a:pPr marL="0" indent="0" algn="l">
              <a:lnSpc>
                <a:spcPts val="1300"/>
              </a:lnSpc>
              <a:buNone/>
            </a:pPr>
            <a:r>
              <a:rPr lang="en-US" sz="1050" dirty="0">
                <a:solidFill>
                  <a:schemeClr val="bg2">
                    <a:lumMod val="75000"/>
                  </a:schemeClr>
                </a:solidFill>
                <a:latin typeface="Unbounded" pitchFamily="34" charset="0"/>
                <a:ea typeface="Unbounded" pitchFamily="34" charset="-122"/>
                <a:cs typeface="Unbounded" pitchFamily="34" charset="-120"/>
              </a:rPr>
              <a:t>Q3. College with Highest Average GPA among Placed Students</a:t>
            </a:r>
            <a:endParaRPr lang="en-US" sz="1050" dirty="0">
              <a:solidFill>
                <a:schemeClr val="bg2">
                  <a:lumMod val="75000"/>
                </a:schemeClr>
              </a:solidFill>
            </a:endParaRPr>
          </a:p>
        </p:txBody>
      </p:sp>
      <p:sp>
        <p:nvSpPr>
          <p:cNvPr id="4" name="Shape 2"/>
          <p:cNvSpPr/>
          <p:nvPr/>
        </p:nvSpPr>
        <p:spPr>
          <a:xfrm>
            <a:off x="516374" y="1039297"/>
            <a:ext cx="13597652" cy="2292429"/>
          </a:xfrm>
          <a:prstGeom prst="roundRect">
            <a:avLst>
              <a:gd name="adj" fmla="val 628"/>
            </a:avLst>
          </a:prstGeom>
          <a:solidFill>
            <a:srgbClr val="1E3543"/>
          </a:solidFill>
          <a:ln/>
        </p:spPr>
        <p:txBody>
          <a:bodyPr/>
          <a:lstStyle/>
          <a:p>
            <a:endParaRPr lang="en-IN"/>
          </a:p>
        </p:txBody>
      </p:sp>
      <p:sp>
        <p:nvSpPr>
          <p:cNvPr id="5" name="Shape 3"/>
          <p:cNvSpPr/>
          <p:nvPr/>
        </p:nvSpPr>
        <p:spPr>
          <a:xfrm>
            <a:off x="511612" y="1039297"/>
            <a:ext cx="13607177" cy="2292429"/>
          </a:xfrm>
          <a:prstGeom prst="roundRect">
            <a:avLst>
              <a:gd name="adj" fmla="val 628"/>
            </a:avLst>
          </a:prstGeom>
          <a:solidFill>
            <a:schemeClr val="tx2">
              <a:lumMod val="60000"/>
              <a:lumOff val="40000"/>
            </a:schemeClr>
          </a:solidFill>
          <a:ln/>
        </p:spPr>
        <p:txBody>
          <a:bodyPr/>
          <a:lstStyle/>
          <a:p>
            <a:endParaRPr lang="en-IN"/>
          </a:p>
        </p:txBody>
      </p:sp>
      <p:sp>
        <p:nvSpPr>
          <p:cNvPr id="6" name="Text 4"/>
          <p:cNvSpPr/>
          <p:nvPr/>
        </p:nvSpPr>
        <p:spPr>
          <a:xfrm>
            <a:off x="607457" y="1111210"/>
            <a:ext cx="13415486" cy="2148602"/>
          </a:xfrm>
          <a:prstGeom prst="rect">
            <a:avLst/>
          </a:prstGeom>
          <a:noFill/>
          <a:ln/>
        </p:spPr>
        <p:txBody>
          <a:bodyPr wrap="square" lIns="0" tIns="0" rIns="0" bIns="0" rtlCol="0" anchor="t"/>
          <a:lstStyle/>
          <a:p>
            <a:r>
              <a:rPr lang="en-IN" sz="900" dirty="0">
                <a:solidFill>
                  <a:schemeClr val="bg1"/>
                </a:solidFill>
              </a:rPr>
              <a:t>WITH placed AS (</a:t>
            </a:r>
          </a:p>
          <a:p>
            <a:r>
              <a:rPr lang="en-IN" sz="900" dirty="0">
                <a:solidFill>
                  <a:schemeClr val="bg1"/>
                </a:solidFill>
              </a:rPr>
              <a:t>  SELECT </a:t>
            </a:r>
            <a:r>
              <a:rPr lang="en-IN" sz="900" dirty="0" err="1">
                <a:solidFill>
                  <a:schemeClr val="bg1"/>
                </a:solidFill>
              </a:rPr>
              <a:t>college_name</a:t>
            </a:r>
            <a:r>
              <a:rPr lang="en-IN" sz="900" dirty="0">
                <a:solidFill>
                  <a:schemeClr val="bg1"/>
                </a:solidFill>
              </a:rPr>
              <a:t>, </a:t>
            </a:r>
            <a:r>
              <a:rPr lang="en-IN" sz="900" dirty="0" err="1">
                <a:solidFill>
                  <a:schemeClr val="bg1"/>
                </a:solidFill>
              </a:rPr>
              <a:t>gpa</a:t>
            </a:r>
            <a:endParaRPr lang="en-IN" sz="900" dirty="0">
              <a:solidFill>
                <a:schemeClr val="bg1"/>
              </a:solidFill>
            </a:endParaRPr>
          </a:p>
          <a:p>
            <a:r>
              <a:rPr lang="en-IN" sz="900" dirty="0">
                <a:solidFill>
                  <a:schemeClr val="bg1"/>
                </a:solidFill>
              </a:rPr>
              <a:t>  FROM job</a:t>
            </a:r>
          </a:p>
          <a:p>
            <a:r>
              <a:rPr lang="en-IN" sz="900" dirty="0">
                <a:solidFill>
                  <a:schemeClr val="bg1"/>
                </a:solidFill>
              </a:rPr>
              <a:t>  WHERE </a:t>
            </a:r>
            <a:r>
              <a:rPr lang="en-IN" sz="900" dirty="0" err="1">
                <a:solidFill>
                  <a:schemeClr val="bg1"/>
                </a:solidFill>
              </a:rPr>
              <a:t>placement_status</a:t>
            </a:r>
            <a:r>
              <a:rPr lang="en-IN" sz="900" dirty="0">
                <a:solidFill>
                  <a:schemeClr val="bg1"/>
                </a:solidFill>
              </a:rPr>
              <a:t> = 'Placed'</a:t>
            </a:r>
          </a:p>
          <a:p>
            <a:r>
              <a:rPr lang="en-IN" sz="900" dirty="0">
                <a:solidFill>
                  <a:schemeClr val="bg1"/>
                </a:solidFill>
              </a:rPr>
              <a:t>),</a:t>
            </a:r>
          </a:p>
          <a:p>
            <a:r>
              <a:rPr lang="en-IN" sz="900" dirty="0" err="1">
                <a:solidFill>
                  <a:schemeClr val="bg1"/>
                </a:solidFill>
              </a:rPr>
              <a:t>avg_gpa</a:t>
            </a:r>
            <a:r>
              <a:rPr lang="en-IN" sz="900" dirty="0">
                <a:solidFill>
                  <a:schemeClr val="bg1"/>
                </a:solidFill>
              </a:rPr>
              <a:t> AS (</a:t>
            </a:r>
          </a:p>
          <a:p>
            <a:r>
              <a:rPr lang="en-IN" sz="900" dirty="0">
                <a:solidFill>
                  <a:schemeClr val="bg1"/>
                </a:solidFill>
              </a:rPr>
              <a:t>  SELECT </a:t>
            </a:r>
            <a:r>
              <a:rPr lang="en-IN" sz="900" dirty="0" err="1">
                <a:solidFill>
                  <a:schemeClr val="bg1"/>
                </a:solidFill>
              </a:rPr>
              <a:t>college_name</a:t>
            </a:r>
            <a:r>
              <a:rPr lang="en-IN" sz="900" dirty="0">
                <a:solidFill>
                  <a:schemeClr val="bg1"/>
                </a:solidFill>
              </a:rPr>
              <a:t>, AVG(</a:t>
            </a:r>
            <a:r>
              <a:rPr lang="en-IN" sz="900" dirty="0" err="1">
                <a:solidFill>
                  <a:schemeClr val="bg1"/>
                </a:solidFill>
              </a:rPr>
              <a:t>gpa</a:t>
            </a:r>
            <a:r>
              <a:rPr lang="en-IN" sz="900" dirty="0">
                <a:solidFill>
                  <a:schemeClr val="bg1"/>
                </a:solidFill>
              </a:rPr>
              <a:t>) AS </a:t>
            </a:r>
            <a:r>
              <a:rPr lang="en-IN" sz="900" dirty="0" err="1">
                <a:solidFill>
                  <a:schemeClr val="bg1"/>
                </a:solidFill>
              </a:rPr>
              <a:t>avg_gpa</a:t>
            </a:r>
            <a:endParaRPr lang="en-IN" sz="900" dirty="0">
              <a:solidFill>
                <a:schemeClr val="bg1"/>
              </a:solidFill>
            </a:endParaRPr>
          </a:p>
          <a:p>
            <a:r>
              <a:rPr lang="en-IN" sz="900" dirty="0">
                <a:solidFill>
                  <a:schemeClr val="bg1"/>
                </a:solidFill>
              </a:rPr>
              <a:t>  FROM placed</a:t>
            </a:r>
          </a:p>
          <a:p>
            <a:r>
              <a:rPr lang="en-IN" sz="900" dirty="0">
                <a:solidFill>
                  <a:schemeClr val="bg1"/>
                </a:solidFill>
              </a:rPr>
              <a:t>  GROUP BY </a:t>
            </a:r>
            <a:r>
              <a:rPr lang="en-IN" sz="900" dirty="0" err="1">
                <a:solidFill>
                  <a:schemeClr val="bg1"/>
                </a:solidFill>
              </a:rPr>
              <a:t>college_name</a:t>
            </a:r>
            <a:endParaRPr lang="en-IN" sz="900" dirty="0">
              <a:solidFill>
                <a:schemeClr val="bg1"/>
              </a:solidFill>
            </a:endParaRPr>
          </a:p>
          <a:p>
            <a:r>
              <a:rPr lang="en-IN" sz="900" dirty="0">
                <a:solidFill>
                  <a:schemeClr val="bg1"/>
                </a:solidFill>
              </a:rPr>
              <a:t>)</a:t>
            </a:r>
          </a:p>
          <a:p>
            <a:r>
              <a:rPr lang="en-IN" sz="900" dirty="0">
                <a:solidFill>
                  <a:schemeClr val="bg1"/>
                </a:solidFill>
              </a:rPr>
              <a:t>SELECT </a:t>
            </a:r>
            <a:r>
              <a:rPr lang="en-IN" sz="900" dirty="0" err="1">
                <a:solidFill>
                  <a:schemeClr val="bg1"/>
                </a:solidFill>
              </a:rPr>
              <a:t>college_name</a:t>
            </a:r>
            <a:r>
              <a:rPr lang="en-IN" sz="900" dirty="0">
                <a:solidFill>
                  <a:schemeClr val="bg1"/>
                </a:solidFill>
              </a:rPr>
              <a:t>, ROUND(</a:t>
            </a:r>
            <a:r>
              <a:rPr lang="en-IN" sz="900" dirty="0" err="1">
                <a:solidFill>
                  <a:schemeClr val="bg1"/>
                </a:solidFill>
              </a:rPr>
              <a:t>avg_gpa</a:t>
            </a:r>
            <a:r>
              <a:rPr lang="en-IN" sz="900" dirty="0">
                <a:solidFill>
                  <a:schemeClr val="bg1"/>
                </a:solidFill>
              </a:rPr>
              <a:t>, 3) AS </a:t>
            </a:r>
            <a:r>
              <a:rPr lang="en-IN" sz="900" dirty="0" err="1">
                <a:solidFill>
                  <a:schemeClr val="bg1"/>
                </a:solidFill>
              </a:rPr>
              <a:t>avg_gpa</a:t>
            </a:r>
            <a:endParaRPr lang="en-IN" sz="900" dirty="0">
              <a:solidFill>
                <a:schemeClr val="bg1"/>
              </a:solidFill>
            </a:endParaRPr>
          </a:p>
          <a:p>
            <a:r>
              <a:rPr lang="en-IN" sz="900" dirty="0">
                <a:solidFill>
                  <a:schemeClr val="bg1"/>
                </a:solidFill>
              </a:rPr>
              <a:t>FROM </a:t>
            </a:r>
            <a:r>
              <a:rPr lang="en-IN" sz="900" dirty="0" err="1">
                <a:solidFill>
                  <a:schemeClr val="bg1"/>
                </a:solidFill>
              </a:rPr>
              <a:t>avg_gpa</a:t>
            </a:r>
            <a:endParaRPr lang="en-IN" sz="900" dirty="0">
              <a:solidFill>
                <a:schemeClr val="bg1"/>
              </a:solidFill>
            </a:endParaRPr>
          </a:p>
          <a:p>
            <a:r>
              <a:rPr lang="en-IN" sz="900" dirty="0">
                <a:solidFill>
                  <a:schemeClr val="bg1"/>
                </a:solidFill>
              </a:rPr>
              <a:t>ORDER BY </a:t>
            </a:r>
            <a:r>
              <a:rPr lang="en-IN" sz="900" dirty="0" err="1">
                <a:solidFill>
                  <a:schemeClr val="bg1"/>
                </a:solidFill>
              </a:rPr>
              <a:t>avg_gpa</a:t>
            </a:r>
            <a:r>
              <a:rPr lang="en-IN" sz="900" dirty="0">
                <a:solidFill>
                  <a:schemeClr val="bg1"/>
                </a:solidFill>
              </a:rPr>
              <a:t> DESC</a:t>
            </a:r>
          </a:p>
          <a:p>
            <a:r>
              <a:rPr lang="en-IN" sz="900" dirty="0">
                <a:solidFill>
                  <a:schemeClr val="bg1"/>
                </a:solidFill>
              </a:rPr>
              <a:t>LIMIT 1;</a:t>
            </a:r>
          </a:p>
        </p:txBody>
      </p:sp>
      <p:sp>
        <p:nvSpPr>
          <p:cNvPr id="7" name="Text 5"/>
          <p:cNvSpPr/>
          <p:nvPr/>
        </p:nvSpPr>
        <p:spPr>
          <a:xfrm>
            <a:off x="516374" y="3439597"/>
            <a:ext cx="13597652" cy="153472"/>
          </a:xfrm>
          <a:prstGeom prst="rect">
            <a:avLst/>
          </a:prstGeom>
          <a:noFill/>
          <a:ln/>
        </p:spPr>
        <p:txBody>
          <a:bodyPr wrap="none" lIns="0" tIns="0" rIns="0" bIns="0" rtlCol="0" anchor="t"/>
          <a:lstStyle/>
          <a:p>
            <a:pPr marL="0" indent="0" algn="l">
              <a:lnSpc>
                <a:spcPts val="1200"/>
              </a:lnSpc>
              <a:buNone/>
            </a:pPr>
            <a:r>
              <a:rPr lang="en-US" sz="750" b="1" dirty="0">
                <a:solidFill>
                  <a:srgbClr val="CAD6DE"/>
                </a:solidFill>
                <a:latin typeface="Cabin" pitchFamily="34" charset="0"/>
                <a:ea typeface="Cabin" pitchFamily="34" charset="-122"/>
                <a:cs typeface="Cabin" pitchFamily="34" charset="-120"/>
              </a:rPr>
              <a:t>Explanation:</a:t>
            </a:r>
            <a:r>
              <a:rPr lang="en-US" sz="750" dirty="0">
                <a:solidFill>
                  <a:srgbClr val="CAD6DE"/>
                </a:solidFill>
                <a:latin typeface="Cabin" pitchFamily="34" charset="0"/>
                <a:ea typeface="Cabin" pitchFamily="34" charset="-122"/>
                <a:cs typeface="Cabin" pitchFamily="34" charset="-120"/>
              </a:rPr>
              <a:t> Calculates the average GPA of placed students in each college and retrieves the top one.</a:t>
            </a:r>
            <a:endParaRPr lang="en-US" sz="750" dirty="0"/>
          </a:p>
        </p:txBody>
      </p:sp>
      <p:sp>
        <p:nvSpPr>
          <p:cNvPr id="8" name="Text 6"/>
          <p:cNvSpPr/>
          <p:nvPr/>
        </p:nvSpPr>
        <p:spPr>
          <a:xfrm>
            <a:off x="516374" y="3700939"/>
            <a:ext cx="13597652" cy="153472"/>
          </a:xfrm>
          <a:prstGeom prst="rect">
            <a:avLst/>
          </a:prstGeom>
          <a:noFill/>
          <a:ln/>
        </p:spPr>
        <p:txBody>
          <a:bodyPr wrap="none" lIns="0" tIns="0" rIns="0" bIns="0" rtlCol="0" anchor="t"/>
          <a:lstStyle/>
          <a:p>
            <a:pPr marL="0" indent="0" algn="l">
              <a:lnSpc>
                <a:spcPts val="1200"/>
              </a:lnSpc>
              <a:buNone/>
            </a:pPr>
            <a:r>
              <a:rPr lang="en-US" sz="750" b="1" dirty="0">
                <a:solidFill>
                  <a:srgbClr val="CAD6DE"/>
                </a:solidFill>
                <a:latin typeface="Cabin" pitchFamily="34" charset="0"/>
                <a:ea typeface="Cabin" pitchFamily="34" charset="-122"/>
                <a:cs typeface="Cabin" pitchFamily="34" charset="-120"/>
              </a:rPr>
              <a:t>Insight:</a:t>
            </a:r>
            <a:r>
              <a:rPr lang="en-US" sz="750" dirty="0">
                <a:solidFill>
                  <a:srgbClr val="CAD6DE"/>
                </a:solidFill>
                <a:latin typeface="Cabin" pitchFamily="34" charset="0"/>
                <a:ea typeface="Cabin" pitchFamily="34" charset="-122"/>
                <a:cs typeface="Cabin" pitchFamily="34" charset="-120"/>
              </a:rPr>
              <a:t> Reveals the college with the highest academic performance among placed candidates.</a:t>
            </a:r>
            <a:endParaRPr lang="en-US" sz="750" dirty="0"/>
          </a:p>
        </p:txBody>
      </p:sp>
      <p:sp>
        <p:nvSpPr>
          <p:cNvPr id="9" name="Text 7"/>
          <p:cNvSpPr/>
          <p:nvPr/>
        </p:nvSpPr>
        <p:spPr>
          <a:xfrm>
            <a:off x="516374" y="3962281"/>
            <a:ext cx="13597652" cy="153472"/>
          </a:xfrm>
          <a:prstGeom prst="rect">
            <a:avLst/>
          </a:prstGeom>
          <a:noFill/>
          <a:ln/>
        </p:spPr>
        <p:txBody>
          <a:bodyPr wrap="none" lIns="0" tIns="0" rIns="0" bIns="0" rtlCol="0" anchor="t"/>
          <a:lstStyle/>
          <a:p>
            <a:pPr marL="0" indent="0" algn="l">
              <a:lnSpc>
                <a:spcPts val="1200"/>
              </a:lnSpc>
              <a:buNone/>
            </a:pPr>
            <a:r>
              <a:rPr lang="en-US" sz="750" b="1" dirty="0">
                <a:solidFill>
                  <a:srgbClr val="CAD6DE"/>
                </a:solidFill>
                <a:latin typeface="Cabin" pitchFamily="34" charset="0"/>
                <a:ea typeface="Cabin" pitchFamily="34" charset="-122"/>
                <a:cs typeface="Cabin" pitchFamily="34" charset="-120"/>
              </a:rPr>
              <a:t>Measures:</a:t>
            </a:r>
            <a:r>
              <a:rPr lang="en-US" sz="750" dirty="0">
                <a:solidFill>
                  <a:srgbClr val="CAD6DE"/>
                </a:solidFill>
                <a:latin typeface="Cabin" pitchFamily="34" charset="0"/>
                <a:ea typeface="Cabin" pitchFamily="34" charset="-122"/>
                <a:cs typeface="Cabin" pitchFamily="34" charset="-120"/>
              </a:rPr>
              <a:t> Share best academic practices from the top-performing college. Encourage other colleges to adopt academic excellence programs that support employability.</a:t>
            </a:r>
            <a:endParaRPr lang="en-US" sz="750" dirty="0"/>
          </a:p>
        </p:txBody>
      </p:sp>
      <p:sp>
        <p:nvSpPr>
          <p:cNvPr id="10" name="Shape 8"/>
          <p:cNvSpPr/>
          <p:nvPr/>
        </p:nvSpPr>
        <p:spPr>
          <a:xfrm>
            <a:off x="516374" y="4271534"/>
            <a:ext cx="13597652" cy="19526"/>
          </a:xfrm>
          <a:prstGeom prst="rect">
            <a:avLst/>
          </a:prstGeom>
          <a:solidFill>
            <a:srgbClr val="CAD6DE">
              <a:alpha val="50000"/>
            </a:srgbClr>
          </a:solidFill>
          <a:ln/>
        </p:spPr>
        <p:txBody>
          <a:bodyPr/>
          <a:lstStyle/>
          <a:p>
            <a:endParaRPr lang="en-IN"/>
          </a:p>
        </p:txBody>
      </p:sp>
      <p:sp>
        <p:nvSpPr>
          <p:cNvPr id="11" name="Text 9"/>
          <p:cNvSpPr/>
          <p:nvPr/>
        </p:nvSpPr>
        <p:spPr>
          <a:xfrm>
            <a:off x="516374" y="4434840"/>
            <a:ext cx="3705820" cy="169188"/>
          </a:xfrm>
          <a:prstGeom prst="rect">
            <a:avLst/>
          </a:prstGeom>
          <a:noFill/>
          <a:ln/>
        </p:spPr>
        <p:txBody>
          <a:bodyPr wrap="none" lIns="0" tIns="0" rIns="0" bIns="0" rtlCol="0" anchor="t"/>
          <a:lstStyle/>
          <a:p>
            <a:pPr marL="0" indent="0" algn="l">
              <a:lnSpc>
                <a:spcPts val="1300"/>
              </a:lnSpc>
              <a:buNone/>
            </a:pPr>
            <a:r>
              <a:rPr lang="en-US" sz="1050" dirty="0">
                <a:solidFill>
                  <a:schemeClr val="bg2">
                    <a:lumMod val="75000"/>
                  </a:schemeClr>
                </a:solidFill>
                <a:latin typeface="Unbounded" pitchFamily="34" charset="0"/>
                <a:ea typeface="Unbounded" pitchFamily="34" charset="-122"/>
                <a:cs typeface="Unbounded" pitchFamily="34" charset="-120"/>
              </a:rPr>
              <a:t>Q4. Most Popular Stream by Placement Count</a:t>
            </a:r>
            <a:endParaRPr lang="en-US" sz="1050" dirty="0">
              <a:solidFill>
                <a:schemeClr val="bg2">
                  <a:lumMod val="75000"/>
                </a:schemeClr>
              </a:solidFill>
            </a:endParaRPr>
          </a:p>
        </p:txBody>
      </p:sp>
      <p:sp>
        <p:nvSpPr>
          <p:cNvPr id="12" name="Shape 10"/>
          <p:cNvSpPr/>
          <p:nvPr/>
        </p:nvSpPr>
        <p:spPr>
          <a:xfrm>
            <a:off x="516374" y="4747855"/>
            <a:ext cx="13597652" cy="2292429"/>
          </a:xfrm>
          <a:prstGeom prst="roundRect">
            <a:avLst>
              <a:gd name="adj" fmla="val 628"/>
            </a:avLst>
          </a:prstGeom>
          <a:solidFill>
            <a:srgbClr val="1E3543"/>
          </a:solidFill>
          <a:ln/>
        </p:spPr>
        <p:txBody>
          <a:bodyPr/>
          <a:lstStyle/>
          <a:p>
            <a:endParaRPr lang="en-IN"/>
          </a:p>
        </p:txBody>
      </p:sp>
      <p:sp>
        <p:nvSpPr>
          <p:cNvPr id="13" name="Shape 11"/>
          <p:cNvSpPr/>
          <p:nvPr/>
        </p:nvSpPr>
        <p:spPr>
          <a:xfrm>
            <a:off x="511612" y="4747855"/>
            <a:ext cx="13607177" cy="2292429"/>
          </a:xfrm>
          <a:prstGeom prst="roundRect">
            <a:avLst>
              <a:gd name="adj" fmla="val 628"/>
            </a:avLst>
          </a:prstGeom>
          <a:solidFill>
            <a:schemeClr val="tx2">
              <a:lumMod val="60000"/>
              <a:lumOff val="40000"/>
            </a:schemeClr>
          </a:solidFill>
          <a:ln/>
        </p:spPr>
        <p:txBody>
          <a:bodyPr/>
          <a:lstStyle/>
          <a:p>
            <a:endParaRPr lang="en-IN" dirty="0"/>
          </a:p>
        </p:txBody>
      </p:sp>
      <p:sp>
        <p:nvSpPr>
          <p:cNvPr id="14" name="Text 12"/>
          <p:cNvSpPr/>
          <p:nvPr/>
        </p:nvSpPr>
        <p:spPr>
          <a:xfrm>
            <a:off x="607457" y="4819769"/>
            <a:ext cx="13415486" cy="2148602"/>
          </a:xfrm>
          <a:prstGeom prst="rect">
            <a:avLst/>
          </a:prstGeom>
          <a:noFill/>
          <a:ln/>
        </p:spPr>
        <p:txBody>
          <a:bodyPr wrap="square" lIns="0" tIns="0" rIns="0" bIns="0" rtlCol="0" anchor="t"/>
          <a:lstStyle/>
          <a:p>
            <a:r>
              <a:rPr lang="en-US" sz="900" dirty="0">
                <a:solidFill>
                  <a:schemeClr val="bg1"/>
                </a:solidFill>
              </a:rPr>
              <a:t>WITH placed AS (</a:t>
            </a:r>
          </a:p>
          <a:p>
            <a:r>
              <a:rPr lang="en-US" sz="900" dirty="0">
                <a:solidFill>
                  <a:schemeClr val="bg1"/>
                </a:solidFill>
              </a:rPr>
              <a:t>  SELECT stream</a:t>
            </a:r>
          </a:p>
          <a:p>
            <a:r>
              <a:rPr lang="en-US" sz="900" dirty="0">
                <a:solidFill>
                  <a:schemeClr val="bg1"/>
                </a:solidFill>
              </a:rPr>
              <a:t>  FROM job</a:t>
            </a:r>
          </a:p>
          <a:p>
            <a:r>
              <a:rPr lang="en-US" sz="900" dirty="0">
                <a:solidFill>
                  <a:schemeClr val="bg1"/>
                </a:solidFill>
              </a:rPr>
              <a:t>  WHERE </a:t>
            </a:r>
            <a:r>
              <a:rPr lang="en-US" sz="900" dirty="0" err="1">
                <a:solidFill>
                  <a:schemeClr val="bg1"/>
                </a:solidFill>
              </a:rPr>
              <a:t>placement_status</a:t>
            </a:r>
            <a:r>
              <a:rPr lang="en-US" sz="900" dirty="0">
                <a:solidFill>
                  <a:schemeClr val="bg1"/>
                </a:solidFill>
              </a:rPr>
              <a:t> = 'Placed'</a:t>
            </a:r>
          </a:p>
          <a:p>
            <a:r>
              <a:rPr lang="en-US" sz="900" dirty="0">
                <a:solidFill>
                  <a:schemeClr val="bg1"/>
                </a:solidFill>
              </a:rPr>
              <a:t>),</a:t>
            </a:r>
          </a:p>
          <a:p>
            <a:r>
              <a:rPr lang="en-US" sz="900" dirty="0">
                <a:solidFill>
                  <a:schemeClr val="bg1"/>
                </a:solidFill>
              </a:rPr>
              <a:t>counts AS (</a:t>
            </a:r>
          </a:p>
          <a:p>
            <a:r>
              <a:rPr lang="en-US" sz="900" dirty="0">
                <a:solidFill>
                  <a:schemeClr val="bg1"/>
                </a:solidFill>
              </a:rPr>
              <a:t>  SELECT stream, COUNT(*) AS </a:t>
            </a:r>
            <a:r>
              <a:rPr lang="en-US" sz="900" dirty="0" err="1">
                <a:solidFill>
                  <a:schemeClr val="bg1"/>
                </a:solidFill>
              </a:rPr>
              <a:t>placed_count</a:t>
            </a:r>
            <a:endParaRPr lang="en-US" sz="900" dirty="0">
              <a:solidFill>
                <a:schemeClr val="bg1"/>
              </a:solidFill>
            </a:endParaRPr>
          </a:p>
          <a:p>
            <a:r>
              <a:rPr lang="en-US" sz="900" dirty="0">
                <a:solidFill>
                  <a:schemeClr val="bg1"/>
                </a:solidFill>
              </a:rPr>
              <a:t>  FROM placed</a:t>
            </a:r>
          </a:p>
          <a:p>
            <a:r>
              <a:rPr lang="en-US" sz="900" dirty="0">
                <a:solidFill>
                  <a:schemeClr val="bg1"/>
                </a:solidFill>
              </a:rPr>
              <a:t>  GROUP BY stream</a:t>
            </a:r>
          </a:p>
          <a:p>
            <a:r>
              <a:rPr lang="en-US" sz="900" dirty="0">
                <a:solidFill>
                  <a:schemeClr val="bg1"/>
                </a:solidFill>
              </a:rPr>
              <a:t>)</a:t>
            </a:r>
          </a:p>
          <a:p>
            <a:r>
              <a:rPr lang="en-US" sz="900" dirty="0">
                <a:solidFill>
                  <a:schemeClr val="bg1"/>
                </a:solidFill>
              </a:rPr>
              <a:t>SELECT stream, </a:t>
            </a:r>
            <a:r>
              <a:rPr lang="en-US" sz="900" dirty="0" err="1">
                <a:solidFill>
                  <a:schemeClr val="bg1"/>
                </a:solidFill>
              </a:rPr>
              <a:t>placed_count</a:t>
            </a:r>
            <a:endParaRPr lang="en-US" sz="900" dirty="0">
              <a:solidFill>
                <a:schemeClr val="bg1"/>
              </a:solidFill>
            </a:endParaRPr>
          </a:p>
          <a:p>
            <a:r>
              <a:rPr lang="en-US" sz="900" dirty="0">
                <a:solidFill>
                  <a:schemeClr val="bg1"/>
                </a:solidFill>
              </a:rPr>
              <a:t>FROM counts</a:t>
            </a:r>
          </a:p>
          <a:p>
            <a:r>
              <a:rPr lang="en-US" sz="900" dirty="0">
                <a:solidFill>
                  <a:schemeClr val="bg1"/>
                </a:solidFill>
              </a:rPr>
              <a:t>ORDER BY </a:t>
            </a:r>
            <a:r>
              <a:rPr lang="en-US" sz="900" dirty="0" err="1">
                <a:solidFill>
                  <a:schemeClr val="bg1"/>
                </a:solidFill>
              </a:rPr>
              <a:t>placed_count</a:t>
            </a:r>
            <a:r>
              <a:rPr lang="en-US" sz="900" dirty="0">
                <a:solidFill>
                  <a:schemeClr val="bg1"/>
                </a:solidFill>
              </a:rPr>
              <a:t> DESC</a:t>
            </a:r>
          </a:p>
          <a:p>
            <a:r>
              <a:rPr lang="en-US" sz="900" dirty="0">
                <a:solidFill>
                  <a:schemeClr val="bg1"/>
                </a:solidFill>
              </a:rPr>
              <a:t>LIMIT 1;</a:t>
            </a:r>
          </a:p>
        </p:txBody>
      </p:sp>
      <p:sp>
        <p:nvSpPr>
          <p:cNvPr id="15" name="Text 13"/>
          <p:cNvSpPr/>
          <p:nvPr/>
        </p:nvSpPr>
        <p:spPr>
          <a:xfrm>
            <a:off x="516374" y="7148155"/>
            <a:ext cx="13597652" cy="153472"/>
          </a:xfrm>
          <a:prstGeom prst="rect">
            <a:avLst/>
          </a:prstGeom>
          <a:noFill/>
          <a:ln/>
        </p:spPr>
        <p:txBody>
          <a:bodyPr wrap="none" lIns="0" tIns="0" rIns="0" bIns="0" rtlCol="0" anchor="t"/>
          <a:lstStyle/>
          <a:p>
            <a:pPr marL="0" indent="0" algn="l">
              <a:lnSpc>
                <a:spcPts val="1200"/>
              </a:lnSpc>
              <a:buNone/>
            </a:pPr>
            <a:r>
              <a:rPr lang="en-US" sz="750" b="1" dirty="0">
                <a:solidFill>
                  <a:srgbClr val="CAD6DE"/>
                </a:solidFill>
                <a:latin typeface="Cabin" pitchFamily="34" charset="0"/>
                <a:ea typeface="Cabin" pitchFamily="34" charset="-122"/>
                <a:cs typeface="Cabin" pitchFamily="34" charset="-120"/>
              </a:rPr>
              <a:t>Explanation:</a:t>
            </a:r>
            <a:r>
              <a:rPr lang="en-US" sz="750" dirty="0">
                <a:solidFill>
                  <a:srgbClr val="CAD6DE"/>
                </a:solidFill>
                <a:latin typeface="Cabin" pitchFamily="34" charset="0"/>
                <a:ea typeface="Cabin" pitchFamily="34" charset="-122"/>
                <a:cs typeface="Cabin" pitchFamily="34" charset="-120"/>
              </a:rPr>
              <a:t> Counts the number of placed candidates in each academic stream.</a:t>
            </a:r>
            <a:endParaRPr lang="en-US" sz="750" dirty="0"/>
          </a:p>
        </p:txBody>
      </p:sp>
      <p:sp>
        <p:nvSpPr>
          <p:cNvPr id="16" name="Text 14"/>
          <p:cNvSpPr/>
          <p:nvPr/>
        </p:nvSpPr>
        <p:spPr>
          <a:xfrm>
            <a:off x="516374" y="7409498"/>
            <a:ext cx="13597652" cy="153472"/>
          </a:xfrm>
          <a:prstGeom prst="rect">
            <a:avLst/>
          </a:prstGeom>
          <a:noFill/>
          <a:ln/>
        </p:spPr>
        <p:txBody>
          <a:bodyPr wrap="none" lIns="0" tIns="0" rIns="0" bIns="0" rtlCol="0" anchor="t"/>
          <a:lstStyle/>
          <a:p>
            <a:pPr marL="0" indent="0" algn="l">
              <a:lnSpc>
                <a:spcPts val="1200"/>
              </a:lnSpc>
              <a:buNone/>
            </a:pPr>
            <a:r>
              <a:rPr lang="en-US" sz="750" b="1" dirty="0">
                <a:solidFill>
                  <a:srgbClr val="CAD6DE"/>
                </a:solidFill>
                <a:latin typeface="Cabin" pitchFamily="34" charset="0"/>
                <a:ea typeface="Cabin" pitchFamily="34" charset="-122"/>
                <a:cs typeface="Cabin" pitchFamily="34" charset="-120"/>
              </a:rPr>
              <a:t>Insight:</a:t>
            </a:r>
            <a:r>
              <a:rPr lang="en-US" sz="750" dirty="0">
                <a:solidFill>
                  <a:srgbClr val="CAD6DE"/>
                </a:solidFill>
                <a:latin typeface="Cabin" pitchFamily="34" charset="0"/>
                <a:ea typeface="Cabin" pitchFamily="34" charset="-122"/>
                <a:cs typeface="Cabin" pitchFamily="34" charset="-120"/>
              </a:rPr>
              <a:t> Identifies the stream with the highest number of placed students, reflecting the most in-demand discipline in the job market.</a:t>
            </a:r>
            <a:endParaRPr lang="en-US" sz="750" dirty="0"/>
          </a:p>
        </p:txBody>
      </p:sp>
      <p:sp>
        <p:nvSpPr>
          <p:cNvPr id="17" name="Text 15"/>
          <p:cNvSpPr/>
          <p:nvPr/>
        </p:nvSpPr>
        <p:spPr>
          <a:xfrm>
            <a:off x="516374" y="7670840"/>
            <a:ext cx="13597652" cy="153472"/>
          </a:xfrm>
          <a:prstGeom prst="rect">
            <a:avLst/>
          </a:prstGeom>
          <a:noFill/>
          <a:ln/>
        </p:spPr>
        <p:txBody>
          <a:bodyPr wrap="none" lIns="0" tIns="0" rIns="0" bIns="0" rtlCol="0" anchor="t"/>
          <a:lstStyle/>
          <a:p>
            <a:pPr marL="0" indent="0" algn="l">
              <a:lnSpc>
                <a:spcPts val="1200"/>
              </a:lnSpc>
              <a:buNone/>
            </a:pPr>
            <a:r>
              <a:rPr lang="en-US" sz="750" b="1" dirty="0">
                <a:solidFill>
                  <a:srgbClr val="CAD6DE"/>
                </a:solidFill>
                <a:latin typeface="Cabin" pitchFamily="34" charset="0"/>
                <a:ea typeface="Cabin" pitchFamily="34" charset="-122"/>
                <a:cs typeface="Cabin" pitchFamily="34" charset="-120"/>
              </a:rPr>
              <a:t>Measures:</a:t>
            </a:r>
            <a:r>
              <a:rPr lang="en-US" sz="750" dirty="0">
                <a:solidFill>
                  <a:srgbClr val="CAD6DE"/>
                </a:solidFill>
                <a:latin typeface="Cabin" pitchFamily="34" charset="0"/>
                <a:ea typeface="Cabin" pitchFamily="34" charset="-122"/>
                <a:cs typeface="Cabin" pitchFamily="34" charset="-120"/>
              </a:rPr>
              <a:t> Enhance career development resources for less popular streams. Align course curriculum with industry requirements to improve placement in weaker streams.</a:t>
            </a:r>
            <a:endParaRPr lang="en-US" sz="750" dirty="0"/>
          </a:p>
        </p:txBody>
      </p:sp>
      <p:pic>
        <p:nvPicPr>
          <p:cNvPr id="19" name="Picture 18">
            <a:extLst>
              <a:ext uri="{FF2B5EF4-FFF2-40B4-BE49-F238E27FC236}">
                <a16:creationId xmlns:a16="http://schemas.microsoft.com/office/drawing/2014/main" id="{27ECF382-9871-65A7-FBE1-DCB666A4B228}"/>
              </a:ext>
            </a:extLst>
          </p:cNvPr>
          <p:cNvPicPr>
            <a:picLocks noChangeAspect="1"/>
          </p:cNvPicPr>
          <p:nvPr/>
        </p:nvPicPr>
        <p:blipFill>
          <a:blip r:embed="rId3"/>
          <a:stretch>
            <a:fillRect/>
          </a:stretch>
        </p:blipFill>
        <p:spPr>
          <a:xfrm>
            <a:off x="9454239" y="1406722"/>
            <a:ext cx="3949483" cy="1543054"/>
          </a:xfrm>
          <a:prstGeom prst="rect">
            <a:avLst/>
          </a:prstGeom>
        </p:spPr>
      </p:pic>
      <p:pic>
        <p:nvPicPr>
          <p:cNvPr id="21" name="Picture 20">
            <a:extLst>
              <a:ext uri="{FF2B5EF4-FFF2-40B4-BE49-F238E27FC236}">
                <a16:creationId xmlns:a16="http://schemas.microsoft.com/office/drawing/2014/main" id="{34FC062F-6C7F-A6C6-4B1D-FE552493C7AE}"/>
              </a:ext>
            </a:extLst>
          </p:cNvPr>
          <p:cNvPicPr>
            <a:picLocks noChangeAspect="1"/>
          </p:cNvPicPr>
          <p:nvPr/>
        </p:nvPicPr>
        <p:blipFill>
          <a:blip r:embed="rId4"/>
          <a:stretch>
            <a:fillRect/>
          </a:stretch>
        </p:blipFill>
        <p:spPr>
          <a:xfrm>
            <a:off x="9385139" y="5070934"/>
            <a:ext cx="4018583" cy="17519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1990" y="535900"/>
            <a:ext cx="8124825" cy="372428"/>
          </a:xfrm>
          <a:prstGeom prst="rect">
            <a:avLst/>
          </a:prstGeom>
          <a:noFill/>
          <a:ln/>
        </p:spPr>
        <p:txBody>
          <a:bodyPr wrap="none" lIns="0" tIns="0" rIns="0" bIns="0" rtlCol="0" anchor="t"/>
          <a:lstStyle/>
          <a:p>
            <a:pPr marL="0" indent="0" algn="l">
              <a:lnSpc>
                <a:spcPts val="2900"/>
              </a:lnSpc>
              <a:buNone/>
            </a:pPr>
            <a:r>
              <a:rPr lang="en-US" sz="2300" dirty="0">
                <a:solidFill>
                  <a:srgbClr val="FFFFFF"/>
                </a:solidFill>
                <a:latin typeface="Unbounded" pitchFamily="34" charset="0"/>
                <a:ea typeface="Unbounded" pitchFamily="34" charset="-122"/>
                <a:cs typeface="Unbounded" pitchFamily="34" charset="-120"/>
              </a:rPr>
              <a:t>Q5 &amp; Q6: Degree Comparison and Top Earners</a:t>
            </a:r>
            <a:endParaRPr lang="en-US" sz="2300" dirty="0"/>
          </a:p>
        </p:txBody>
      </p:sp>
      <p:sp>
        <p:nvSpPr>
          <p:cNvPr id="3" name="Text 1"/>
          <p:cNvSpPr/>
          <p:nvPr/>
        </p:nvSpPr>
        <p:spPr>
          <a:xfrm>
            <a:off x="681990" y="958929"/>
            <a:ext cx="4116229" cy="223480"/>
          </a:xfrm>
          <a:prstGeom prst="rect">
            <a:avLst/>
          </a:prstGeom>
          <a:noFill/>
          <a:ln/>
        </p:spPr>
        <p:txBody>
          <a:bodyPr wrap="none" lIns="0" tIns="0" rIns="0" bIns="0" rtlCol="0" anchor="t"/>
          <a:lstStyle/>
          <a:p>
            <a:pPr marL="0" indent="0" algn="l">
              <a:lnSpc>
                <a:spcPts val="1750"/>
              </a:lnSpc>
              <a:buNone/>
            </a:pPr>
            <a:r>
              <a:rPr lang="en-US" sz="1400" dirty="0">
                <a:solidFill>
                  <a:schemeClr val="bg2">
                    <a:lumMod val="75000"/>
                  </a:schemeClr>
                </a:solidFill>
                <a:latin typeface="Unbounded" pitchFamily="34" charset="0"/>
                <a:ea typeface="Unbounded" pitchFamily="34" charset="-122"/>
                <a:cs typeface="Unbounded" pitchFamily="34" charset="-120"/>
              </a:rPr>
              <a:t>Q5. Salary Comparison by Degree Type</a:t>
            </a:r>
            <a:endParaRPr lang="en-US" sz="1400" dirty="0">
              <a:solidFill>
                <a:schemeClr val="bg2">
                  <a:lumMod val="75000"/>
                </a:schemeClr>
              </a:solidFill>
            </a:endParaRPr>
          </a:p>
        </p:txBody>
      </p:sp>
      <p:sp>
        <p:nvSpPr>
          <p:cNvPr id="4" name="Shape 2"/>
          <p:cNvSpPr/>
          <p:nvPr/>
        </p:nvSpPr>
        <p:spPr>
          <a:xfrm>
            <a:off x="681990" y="1372314"/>
            <a:ext cx="13266420" cy="2013585"/>
          </a:xfrm>
          <a:prstGeom prst="roundRect">
            <a:avLst>
              <a:gd name="adj" fmla="val 944"/>
            </a:avLst>
          </a:prstGeom>
          <a:solidFill>
            <a:srgbClr val="1E3543"/>
          </a:solidFill>
          <a:ln/>
        </p:spPr>
        <p:txBody>
          <a:bodyPr/>
          <a:lstStyle/>
          <a:p>
            <a:endParaRPr lang="en-IN"/>
          </a:p>
        </p:txBody>
      </p:sp>
      <p:sp>
        <p:nvSpPr>
          <p:cNvPr id="5" name="Shape 3"/>
          <p:cNvSpPr/>
          <p:nvPr/>
        </p:nvSpPr>
        <p:spPr>
          <a:xfrm>
            <a:off x="675680" y="1372314"/>
            <a:ext cx="13279041" cy="2013585"/>
          </a:xfrm>
          <a:prstGeom prst="roundRect">
            <a:avLst>
              <a:gd name="adj" fmla="val 944"/>
            </a:avLst>
          </a:prstGeom>
          <a:solidFill>
            <a:schemeClr val="tx2">
              <a:lumMod val="60000"/>
              <a:lumOff val="40000"/>
            </a:schemeClr>
          </a:solidFill>
          <a:ln/>
        </p:spPr>
        <p:txBody>
          <a:bodyPr/>
          <a:lstStyle/>
          <a:p>
            <a:endParaRPr lang="en-IN"/>
          </a:p>
        </p:txBody>
      </p:sp>
      <p:sp>
        <p:nvSpPr>
          <p:cNvPr id="6" name="Text 4"/>
          <p:cNvSpPr/>
          <p:nvPr/>
        </p:nvSpPr>
        <p:spPr>
          <a:xfrm>
            <a:off x="802243" y="1467207"/>
            <a:ext cx="13025914" cy="1823799"/>
          </a:xfrm>
          <a:prstGeom prst="rect">
            <a:avLst/>
          </a:prstGeom>
          <a:noFill/>
          <a:ln/>
        </p:spPr>
        <p:txBody>
          <a:bodyPr wrap="square" lIns="0" tIns="0" rIns="0" bIns="0" rtlCol="0" anchor="t"/>
          <a:lstStyle/>
          <a:p>
            <a:r>
              <a:rPr lang="en-US" sz="1100" dirty="0">
                <a:solidFill>
                  <a:schemeClr val="bg1"/>
                </a:solidFill>
              </a:rPr>
              <a:t>WITH placed AS (</a:t>
            </a:r>
          </a:p>
          <a:p>
            <a:r>
              <a:rPr lang="en-US" sz="1100" dirty="0">
                <a:solidFill>
                  <a:schemeClr val="bg1"/>
                </a:solidFill>
              </a:rPr>
              <a:t>  SELECT degree, salary</a:t>
            </a:r>
          </a:p>
          <a:p>
            <a:r>
              <a:rPr lang="en-US" sz="1100" dirty="0">
                <a:solidFill>
                  <a:schemeClr val="bg1"/>
                </a:solidFill>
              </a:rPr>
              <a:t>  FROM job</a:t>
            </a:r>
          </a:p>
          <a:p>
            <a:r>
              <a:rPr lang="en-US" sz="1100" dirty="0">
                <a:solidFill>
                  <a:schemeClr val="bg1"/>
                </a:solidFill>
              </a:rPr>
              <a:t>  WHERE </a:t>
            </a:r>
            <a:r>
              <a:rPr lang="en-US" sz="1100" dirty="0" err="1">
                <a:solidFill>
                  <a:schemeClr val="bg1"/>
                </a:solidFill>
              </a:rPr>
              <a:t>placement_status</a:t>
            </a:r>
            <a:r>
              <a:rPr lang="en-US" sz="1100" dirty="0">
                <a:solidFill>
                  <a:schemeClr val="bg1"/>
                </a:solidFill>
              </a:rPr>
              <a:t> = 'Placed'</a:t>
            </a:r>
          </a:p>
          <a:p>
            <a:r>
              <a:rPr lang="en-US" sz="1100" dirty="0">
                <a:solidFill>
                  <a:schemeClr val="bg1"/>
                </a:solidFill>
              </a:rPr>
              <a:t>)</a:t>
            </a:r>
          </a:p>
          <a:p>
            <a:r>
              <a:rPr lang="en-US" sz="1100" dirty="0">
                <a:solidFill>
                  <a:schemeClr val="bg1"/>
                </a:solidFill>
              </a:rPr>
              <a:t>SELECT degree, ROUND(AVG(salary), 2) AS </a:t>
            </a:r>
            <a:r>
              <a:rPr lang="en-US" sz="1100" dirty="0" err="1">
                <a:solidFill>
                  <a:schemeClr val="bg1"/>
                </a:solidFill>
              </a:rPr>
              <a:t>avg_salary</a:t>
            </a:r>
            <a:endParaRPr lang="en-US" sz="1100" dirty="0">
              <a:solidFill>
                <a:schemeClr val="bg1"/>
              </a:solidFill>
            </a:endParaRPr>
          </a:p>
          <a:p>
            <a:r>
              <a:rPr lang="en-US" sz="1100" dirty="0">
                <a:solidFill>
                  <a:schemeClr val="bg1"/>
                </a:solidFill>
              </a:rPr>
              <a:t>FROM placed</a:t>
            </a:r>
          </a:p>
          <a:p>
            <a:r>
              <a:rPr lang="en-US" sz="1100" dirty="0">
                <a:solidFill>
                  <a:schemeClr val="bg1"/>
                </a:solidFill>
              </a:rPr>
              <a:t>GROUP BY degree</a:t>
            </a:r>
          </a:p>
          <a:p>
            <a:r>
              <a:rPr lang="en-US" sz="1100" dirty="0">
                <a:solidFill>
                  <a:schemeClr val="bg1"/>
                </a:solidFill>
              </a:rPr>
              <a:t>ORDER BY </a:t>
            </a:r>
            <a:r>
              <a:rPr lang="en-US" sz="1100" dirty="0" err="1">
                <a:solidFill>
                  <a:schemeClr val="bg1"/>
                </a:solidFill>
              </a:rPr>
              <a:t>avg_salary</a:t>
            </a:r>
            <a:r>
              <a:rPr lang="en-US" sz="1100" dirty="0">
                <a:solidFill>
                  <a:schemeClr val="bg1"/>
                </a:solidFill>
              </a:rPr>
              <a:t> DESC;</a:t>
            </a:r>
          </a:p>
        </p:txBody>
      </p:sp>
      <p:sp>
        <p:nvSpPr>
          <p:cNvPr id="7" name="Text 5"/>
          <p:cNvSpPr/>
          <p:nvPr/>
        </p:nvSpPr>
        <p:spPr>
          <a:xfrm>
            <a:off x="681990" y="3528298"/>
            <a:ext cx="13266420" cy="202644"/>
          </a:xfrm>
          <a:prstGeom prst="rect">
            <a:avLst/>
          </a:prstGeom>
          <a:noFill/>
          <a:ln/>
        </p:spPr>
        <p:txBody>
          <a:bodyPr wrap="none" lIns="0" tIns="0" rIns="0" bIns="0" rtlCol="0" anchor="t"/>
          <a:lstStyle/>
          <a:p>
            <a:pPr marL="0" indent="0" algn="l">
              <a:lnSpc>
                <a:spcPts val="1550"/>
              </a:lnSpc>
              <a:buNone/>
            </a:pPr>
            <a:r>
              <a:rPr lang="en-US" sz="950" b="1" dirty="0">
                <a:solidFill>
                  <a:srgbClr val="CAD6DE"/>
                </a:solidFill>
                <a:latin typeface="Cabin" pitchFamily="34" charset="0"/>
                <a:ea typeface="Cabin" pitchFamily="34" charset="-122"/>
                <a:cs typeface="Cabin" pitchFamily="34" charset="-120"/>
              </a:rPr>
              <a:t>Explanation:</a:t>
            </a:r>
            <a:r>
              <a:rPr lang="en-US" sz="950" dirty="0">
                <a:solidFill>
                  <a:srgbClr val="CAD6DE"/>
                </a:solidFill>
                <a:latin typeface="Cabin" pitchFamily="34" charset="0"/>
                <a:ea typeface="Cabin" pitchFamily="34" charset="-122"/>
                <a:cs typeface="Cabin" pitchFamily="34" charset="-120"/>
              </a:rPr>
              <a:t> Calculates the average salary per degree for placed students.</a:t>
            </a:r>
            <a:endParaRPr lang="en-US" sz="950" dirty="0"/>
          </a:p>
        </p:txBody>
      </p:sp>
      <p:sp>
        <p:nvSpPr>
          <p:cNvPr id="8" name="Text 6"/>
          <p:cNvSpPr/>
          <p:nvPr/>
        </p:nvSpPr>
        <p:spPr>
          <a:xfrm>
            <a:off x="681990" y="3873341"/>
            <a:ext cx="13266420" cy="202644"/>
          </a:xfrm>
          <a:prstGeom prst="rect">
            <a:avLst/>
          </a:prstGeom>
          <a:noFill/>
          <a:ln/>
        </p:spPr>
        <p:txBody>
          <a:bodyPr wrap="none" lIns="0" tIns="0" rIns="0" bIns="0" rtlCol="0" anchor="t"/>
          <a:lstStyle/>
          <a:p>
            <a:pPr marL="0" indent="0" algn="l">
              <a:lnSpc>
                <a:spcPts val="1550"/>
              </a:lnSpc>
              <a:buNone/>
            </a:pPr>
            <a:r>
              <a:rPr lang="en-US" sz="950" b="1" dirty="0">
                <a:solidFill>
                  <a:srgbClr val="CAD6DE"/>
                </a:solidFill>
                <a:latin typeface="Cabin" pitchFamily="34" charset="0"/>
                <a:ea typeface="Cabin" pitchFamily="34" charset="-122"/>
                <a:cs typeface="Cabin" pitchFamily="34" charset="-120"/>
              </a:rPr>
              <a:t>Insight:</a:t>
            </a:r>
            <a:r>
              <a:rPr lang="en-US" sz="950" dirty="0">
                <a:solidFill>
                  <a:srgbClr val="CAD6DE"/>
                </a:solidFill>
                <a:latin typeface="Cabin" pitchFamily="34" charset="0"/>
                <a:ea typeface="Cabin" pitchFamily="34" charset="-122"/>
                <a:cs typeface="Cabin" pitchFamily="34" charset="-120"/>
              </a:rPr>
              <a:t> Displays which degrees provide better salary outcomes, showing the value of each qualification.</a:t>
            </a:r>
            <a:endParaRPr lang="en-US" sz="950" dirty="0"/>
          </a:p>
        </p:txBody>
      </p:sp>
      <p:sp>
        <p:nvSpPr>
          <p:cNvPr id="9" name="Text 7"/>
          <p:cNvSpPr/>
          <p:nvPr/>
        </p:nvSpPr>
        <p:spPr>
          <a:xfrm>
            <a:off x="681990" y="4218384"/>
            <a:ext cx="13266420" cy="202644"/>
          </a:xfrm>
          <a:prstGeom prst="rect">
            <a:avLst/>
          </a:prstGeom>
          <a:noFill/>
          <a:ln/>
        </p:spPr>
        <p:txBody>
          <a:bodyPr wrap="none" lIns="0" tIns="0" rIns="0" bIns="0" rtlCol="0" anchor="t"/>
          <a:lstStyle/>
          <a:p>
            <a:pPr marL="0" indent="0" algn="l">
              <a:lnSpc>
                <a:spcPts val="1550"/>
              </a:lnSpc>
              <a:buNone/>
            </a:pPr>
            <a:r>
              <a:rPr lang="en-US" sz="950" b="1" dirty="0">
                <a:solidFill>
                  <a:srgbClr val="CAD6DE"/>
                </a:solidFill>
                <a:latin typeface="Cabin" pitchFamily="34" charset="0"/>
                <a:ea typeface="Cabin" pitchFamily="34" charset="-122"/>
                <a:cs typeface="Cabin" pitchFamily="34" charset="-120"/>
              </a:rPr>
              <a:t>Measures:</a:t>
            </a:r>
            <a:r>
              <a:rPr lang="en-US" sz="950" dirty="0">
                <a:solidFill>
                  <a:srgbClr val="CAD6DE"/>
                </a:solidFill>
                <a:latin typeface="Cabin" pitchFamily="34" charset="0"/>
                <a:ea typeface="Cabin" pitchFamily="34" charset="-122"/>
                <a:cs typeface="Cabin" pitchFamily="34" charset="-120"/>
              </a:rPr>
              <a:t> Promote high-performing degrees in career campaigns. Introduce certifications and technical skills in lower-performing degree programs to improve their employability.</a:t>
            </a:r>
            <a:endParaRPr lang="en-US" sz="950" dirty="0"/>
          </a:p>
        </p:txBody>
      </p:sp>
      <p:sp>
        <p:nvSpPr>
          <p:cNvPr id="10" name="Shape 8"/>
          <p:cNvSpPr/>
          <p:nvPr/>
        </p:nvSpPr>
        <p:spPr>
          <a:xfrm>
            <a:off x="681990" y="4626647"/>
            <a:ext cx="13266420" cy="23336"/>
          </a:xfrm>
          <a:prstGeom prst="rect">
            <a:avLst/>
          </a:prstGeom>
          <a:solidFill>
            <a:srgbClr val="CAD6DE">
              <a:alpha val="50000"/>
            </a:srgbClr>
          </a:solidFill>
          <a:ln/>
        </p:spPr>
        <p:txBody>
          <a:bodyPr/>
          <a:lstStyle/>
          <a:p>
            <a:endParaRPr lang="en-IN"/>
          </a:p>
        </p:txBody>
      </p:sp>
      <p:sp>
        <p:nvSpPr>
          <p:cNvPr id="11" name="Text 9"/>
          <p:cNvSpPr/>
          <p:nvPr/>
        </p:nvSpPr>
        <p:spPr>
          <a:xfrm>
            <a:off x="681990" y="4839772"/>
            <a:ext cx="3402449" cy="223480"/>
          </a:xfrm>
          <a:prstGeom prst="rect">
            <a:avLst/>
          </a:prstGeom>
          <a:noFill/>
          <a:ln/>
        </p:spPr>
        <p:txBody>
          <a:bodyPr wrap="none" lIns="0" tIns="0" rIns="0" bIns="0" rtlCol="0" anchor="t"/>
          <a:lstStyle/>
          <a:p>
            <a:pPr marL="0" indent="0" algn="l">
              <a:lnSpc>
                <a:spcPts val="1750"/>
              </a:lnSpc>
              <a:buNone/>
            </a:pPr>
            <a:r>
              <a:rPr lang="en-US" sz="1400" dirty="0">
                <a:solidFill>
                  <a:schemeClr val="bg2">
                    <a:lumMod val="75000"/>
                  </a:schemeClr>
                </a:solidFill>
                <a:latin typeface="Unbounded" pitchFamily="34" charset="0"/>
                <a:ea typeface="Unbounded" pitchFamily="34" charset="-122"/>
                <a:cs typeface="Unbounded" pitchFamily="34" charset="-120"/>
              </a:rPr>
              <a:t>Q6. Top 5 Highest Paid Students</a:t>
            </a:r>
            <a:endParaRPr lang="en-US" sz="1400" dirty="0">
              <a:solidFill>
                <a:schemeClr val="bg2">
                  <a:lumMod val="75000"/>
                </a:schemeClr>
              </a:solidFill>
            </a:endParaRPr>
          </a:p>
        </p:txBody>
      </p:sp>
      <p:sp>
        <p:nvSpPr>
          <p:cNvPr id="12" name="Shape 10"/>
          <p:cNvSpPr/>
          <p:nvPr/>
        </p:nvSpPr>
        <p:spPr>
          <a:xfrm>
            <a:off x="681990" y="5253157"/>
            <a:ext cx="13266420" cy="1405652"/>
          </a:xfrm>
          <a:prstGeom prst="roundRect">
            <a:avLst>
              <a:gd name="adj" fmla="val 1352"/>
            </a:avLst>
          </a:prstGeom>
          <a:solidFill>
            <a:srgbClr val="1E3543"/>
          </a:solidFill>
          <a:ln/>
        </p:spPr>
        <p:txBody>
          <a:bodyPr/>
          <a:lstStyle/>
          <a:p>
            <a:endParaRPr lang="en-IN"/>
          </a:p>
        </p:txBody>
      </p:sp>
      <p:sp>
        <p:nvSpPr>
          <p:cNvPr id="13" name="Shape 11"/>
          <p:cNvSpPr/>
          <p:nvPr/>
        </p:nvSpPr>
        <p:spPr>
          <a:xfrm>
            <a:off x="675680" y="5253157"/>
            <a:ext cx="13279041" cy="1405652"/>
          </a:xfrm>
          <a:prstGeom prst="roundRect">
            <a:avLst>
              <a:gd name="adj" fmla="val 1352"/>
            </a:avLst>
          </a:prstGeom>
          <a:solidFill>
            <a:schemeClr val="tx2">
              <a:lumMod val="60000"/>
              <a:lumOff val="40000"/>
            </a:schemeClr>
          </a:solidFill>
          <a:ln/>
        </p:spPr>
        <p:txBody>
          <a:bodyPr/>
          <a:lstStyle/>
          <a:p>
            <a:endParaRPr lang="en-IN" dirty="0"/>
          </a:p>
        </p:txBody>
      </p:sp>
      <p:sp>
        <p:nvSpPr>
          <p:cNvPr id="14" name="Text 12"/>
          <p:cNvSpPr/>
          <p:nvPr/>
        </p:nvSpPr>
        <p:spPr>
          <a:xfrm>
            <a:off x="802243" y="5348049"/>
            <a:ext cx="13025914" cy="1215866"/>
          </a:xfrm>
          <a:prstGeom prst="rect">
            <a:avLst/>
          </a:prstGeom>
          <a:noFill/>
          <a:ln/>
        </p:spPr>
        <p:txBody>
          <a:bodyPr wrap="square" lIns="0" tIns="0" rIns="0" bIns="0" rtlCol="0" anchor="t"/>
          <a:lstStyle/>
          <a:p>
            <a:r>
              <a:rPr lang="en-US" sz="1100" dirty="0">
                <a:solidFill>
                  <a:schemeClr val="bg1"/>
                </a:solidFill>
              </a:rPr>
              <a:t>SELECT</a:t>
            </a:r>
          </a:p>
          <a:p>
            <a:r>
              <a:rPr lang="en-US" sz="1100" dirty="0">
                <a:solidFill>
                  <a:schemeClr val="bg1"/>
                </a:solidFill>
              </a:rPr>
              <a:t>  name, </a:t>
            </a:r>
            <a:r>
              <a:rPr lang="en-US" sz="1100" dirty="0" err="1">
                <a:solidFill>
                  <a:schemeClr val="bg1"/>
                </a:solidFill>
              </a:rPr>
              <a:t>college_name</a:t>
            </a:r>
            <a:r>
              <a:rPr lang="en-US" sz="1100" dirty="0">
                <a:solidFill>
                  <a:schemeClr val="bg1"/>
                </a:solidFill>
              </a:rPr>
              <a:t>, stream, salary</a:t>
            </a:r>
          </a:p>
          <a:p>
            <a:r>
              <a:rPr lang="en-US" sz="1100" dirty="0">
                <a:solidFill>
                  <a:schemeClr val="bg1"/>
                </a:solidFill>
              </a:rPr>
              <a:t>FROM job</a:t>
            </a:r>
          </a:p>
          <a:p>
            <a:r>
              <a:rPr lang="en-US" sz="1100" dirty="0">
                <a:solidFill>
                  <a:schemeClr val="bg1"/>
                </a:solidFill>
              </a:rPr>
              <a:t>WHERE </a:t>
            </a:r>
            <a:r>
              <a:rPr lang="en-US" sz="1100" dirty="0" err="1">
                <a:solidFill>
                  <a:schemeClr val="bg1"/>
                </a:solidFill>
              </a:rPr>
              <a:t>placement_status</a:t>
            </a:r>
            <a:r>
              <a:rPr lang="en-US" sz="1100" dirty="0">
                <a:solidFill>
                  <a:schemeClr val="bg1"/>
                </a:solidFill>
              </a:rPr>
              <a:t> = 'Placed'</a:t>
            </a:r>
          </a:p>
          <a:p>
            <a:r>
              <a:rPr lang="en-US" sz="1100" dirty="0">
                <a:solidFill>
                  <a:schemeClr val="bg1"/>
                </a:solidFill>
              </a:rPr>
              <a:t>ORDER BY salary DESC</a:t>
            </a:r>
          </a:p>
          <a:p>
            <a:r>
              <a:rPr lang="en-US" sz="1100" dirty="0">
                <a:solidFill>
                  <a:schemeClr val="bg1"/>
                </a:solidFill>
              </a:rPr>
              <a:t>LIMIT 5;</a:t>
            </a:r>
          </a:p>
        </p:txBody>
      </p:sp>
      <p:sp>
        <p:nvSpPr>
          <p:cNvPr id="15" name="Text 13"/>
          <p:cNvSpPr/>
          <p:nvPr/>
        </p:nvSpPr>
        <p:spPr>
          <a:xfrm>
            <a:off x="681990" y="6801207"/>
            <a:ext cx="13266420" cy="202644"/>
          </a:xfrm>
          <a:prstGeom prst="rect">
            <a:avLst/>
          </a:prstGeom>
          <a:noFill/>
          <a:ln/>
        </p:spPr>
        <p:txBody>
          <a:bodyPr wrap="none" lIns="0" tIns="0" rIns="0" bIns="0" rtlCol="0" anchor="t"/>
          <a:lstStyle/>
          <a:p>
            <a:pPr marL="0" indent="0" algn="l">
              <a:lnSpc>
                <a:spcPts val="1550"/>
              </a:lnSpc>
              <a:buNone/>
            </a:pPr>
            <a:r>
              <a:rPr lang="en-US" sz="950" b="1" dirty="0">
                <a:solidFill>
                  <a:srgbClr val="CAD6DE"/>
                </a:solidFill>
                <a:latin typeface="Cabin" pitchFamily="34" charset="0"/>
                <a:ea typeface="Cabin" pitchFamily="34" charset="-122"/>
                <a:cs typeface="Cabin" pitchFamily="34" charset="-120"/>
              </a:rPr>
              <a:t>Explanation:</a:t>
            </a:r>
            <a:r>
              <a:rPr lang="en-US" sz="950" dirty="0">
                <a:solidFill>
                  <a:srgbClr val="CAD6DE"/>
                </a:solidFill>
                <a:latin typeface="Cabin" pitchFamily="34" charset="0"/>
                <a:ea typeface="Cabin" pitchFamily="34" charset="-122"/>
                <a:cs typeface="Cabin" pitchFamily="34" charset="-120"/>
              </a:rPr>
              <a:t> Displays the top five placed students earning the highest salaries.</a:t>
            </a:r>
            <a:endParaRPr lang="en-US" sz="950" dirty="0"/>
          </a:p>
        </p:txBody>
      </p:sp>
      <p:sp>
        <p:nvSpPr>
          <p:cNvPr id="16" name="Text 14"/>
          <p:cNvSpPr/>
          <p:nvPr/>
        </p:nvSpPr>
        <p:spPr>
          <a:xfrm>
            <a:off x="681990" y="7146250"/>
            <a:ext cx="13266420" cy="202644"/>
          </a:xfrm>
          <a:prstGeom prst="rect">
            <a:avLst/>
          </a:prstGeom>
          <a:noFill/>
          <a:ln/>
        </p:spPr>
        <p:txBody>
          <a:bodyPr wrap="none" lIns="0" tIns="0" rIns="0" bIns="0" rtlCol="0" anchor="t"/>
          <a:lstStyle/>
          <a:p>
            <a:pPr marL="0" indent="0" algn="l">
              <a:lnSpc>
                <a:spcPts val="1550"/>
              </a:lnSpc>
              <a:buNone/>
            </a:pPr>
            <a:r>
              <a:rPr lang="en-US" sz="950" b="1" dirty="0">
                <a:solidFill>
                  <a:srgbClr val="CAD6DE"/>
                </a:solidFill>
                <a:latin typeface="Cabin" pitchFamily="34" charset="0"/>
                <a:ea typeface="Cabin" pitchFamily="34" charset="-122"/>
                <a:cs typeface="Cabin" pitchFamily="34" charset="-120"/>
              </a:rPr>
              <a:t>Insight:</a:t>
            </a:r>
            <a:r>
              <a:rPr lang="en-US" sz="950" dirty="0">
                <a:solidFill>
                  <a:srgbClr val="CAD6DE"/>
                </a:solidFill>
                <a:latin typeface="Cabin" pitchFamily="34" charset="0"/>
                <a:ea typeface="Cabin" pitchFamily="34" charset="-122"/>
                <a:cs typeface="Cabin" pitchFamily="34" charset="-120"/>
              </a:rPr>
              <a:t> Highlights the top achievers and the colleges or streams contributing to their success.</a:t>
            </a:r>
            <a:endParaRPr lang="en-US" sz="950" dirty="0"/>
          </a:p>
        </p:txBody>
      </p:sp>
      <p:sp>
        <p:nvSpPr>
          <p:cNvPr id="17" name="Text 15"/>
          <p:cNvSpPr/>
          <p:nvPr/>
        </p:nvSpPr>
        <p:spPr>
          <a:xfrm>
            <a:off x="681990" y="7491293"/>
            <a:ext cx="13266420" cy="202644"/>
          </a:xfrm>
          <a:prstGeom prst="rect">
            <a:avLst/>
          </a:prstGeom>
          <a:noFill/>
          <a:ln/>
        </p:spPr>
        <p:txBody>
          <a:bodyPr wrap="none" lIns="0" tIns="0" rIns="0" bIns="0" rtlCol="0" anchor="t"/>
          <a:lstStyle/>
          <a:p>
            <a:pPr marL="0" indent="0" algn="l">
              <a:lnSpc>
                <a:spcPts val="1550"/>
              </a:lnSpc>
              <a:buNone/>
            </a:pPr>
            <a:r>
              <a:rPr lang="en-US" sz="950" b="1" dirty="0">
                <a:solidFill>
                  <a:srgbClr val="CAD6DE"/>
                </a:solidFill>
                <a:latin typeface="Cabin" pitchFamily="34" charset="0"/>
                <a:ea typeface="Cabin" pitchFamily="34" charset="-122"/>
                <a:cs typeface="Cabin" pitchFamily="34" charset="-120"/>
              </a:rPr>
              <a:t>Measures:</a:t>
            </a:r>
            <a:r>
              <a:rPr lang="en-US" sz="950" dirty="0">
                <a:solidFill>
                  <a:srgbClr val="CAD6DE"/>
                </a:solidFill>
                <a:latin typeface="Cabin" pitchFamily="34" charset="0"/>
                <a:ea typeface="Cabin" pitchFamily="34" charset="-122"/>
                <a:cs typeface="Cabin" pitchFamily="34" charset="-120"/>
              </a:rPr>
              <a:t> Feature these students as success stories in institutional marketing. Study the profiles of top earners to understand key success factors (skills, degree, stream).</a:t>
            </a:r>
            <a:endParaRPr lang="en-US" sz="950" dirty="0"/>
          </a:p>
        </p:txBody>
      </p:sp>
      <p:pic>
        <p:nvPicPr>
          <p:cNvPr id="19" name="Picture 18">
            <a:extLst>
              <a:ext uri="{FF2B5EF4-FFF2-40B4-BE49-F238E27FC236}">
                <a16:creationId xmlns:a16="http://schemas.microsoft.com/office/drawing/2014/main" id="{D580310C-E292-E11C-CCD0-841F0454374E}"/>
              </a:ext>
            </a:extLst>
          </p:cNvPr>
          <p:cNvPicPr>
            <a:picLocks noChangeAspect="1"/>
          </p:cNvPicPr>
          <p:nvPr/>
        </p:nvPicPr>
        <p:blipFill>
          <a:blip r:embed="rId3"/>
          <a:stretch>
            <a:fillRect/>
          </a:stretch>
        </p:blipFill>
        <p:spPr>
          <a:xfrm>
            <a:off x="10077688" y="1570791"/>
            <a:ext cx="2964401" cy="1557869"/>
          </a:xfrm>
          <a:prstGeom prst="rect">
            <a:avLst/>
          </a:prstGeom>
        </p:spPr>
      </p:pic>
      <p:pic>
        <p:nvPicPr>
          <p:cNvPr id="21" name="Picture 20">
            <a:extLst>
              <a:ext uri="{FF2B5EF4-FFF2-40B4-BE49-F238E27FC236}">
                <a16:creationId xmlns:a16="http://schemas.microsoft.com/office/drawing/2014/main" id="{CA647061-4CB8-8F05-07C9-01215431355F}"/>
              </a:ext>
            </a:extLst>
          </p:cNvPr>
          <p:cNvPicPr>
            <a:picLocks noChangeAspect="1"/>
          </p:cNvPicPr>
          <p:nvPr/>
        </p:nvPicPr>
        <p:blipFill>
          <a:blip r:embed="rId4"/>
          <a:stretch>
            <a:fillRect/>
          </a:stretch>
        </p:blipFill>
        <p:spPr>
          <a:xfrm>
            <a:off x="9635663" y="5366746"/>
            <a:ext cx="3848449" cy="11784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9962" y="510659"/>
            <a:ext cx="9501426" cy="355044"/>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Q7 &amp; Q8: Experience Impact and Academic Performance</a:t>
            </a:r>
            <a:endParaRPr lang="en-US" sz="2200" dirty="0"/>
          </a:p>
        </p:txBody>
      </p:sp>
      <p:sp>
        <p:nvSpPr>
          <p:cNvPr id="3" name="Text 1"/>
          <p:cNvSpPr/>
          <p:nvPr/>
        </p:nvSpPr>
        <p:spPr>
          <a:xfrm>
            <a:off x="649962" y="913924"/>
            <a:ext cx="4508302" cy="212884"/>
          </a:xfrm>
          <a:prstGeom prst="rect">
            <a:avLst/>
          </a:prstGeom>
          <a:noFill/>
          <a:ln/>
        </p:spPr>
        <p:txBody>
          <a:bodyPr wrap="none" lIns="0" tIns="0" rIns="0" bIns="0" rtlCol="0" anchor="t"/>
          <a:lstStyle/>
          <a:p>
            <a:pPr marL="0" indent="0" algn="l">
              <a:lnSpc>
                <a:spcPts val="1650"/>
              </a:lnSpc>
              <a:buNone/>
            </a:pPr>
            <a:r>
              <a:rPr lang="en-US" sz="1300" dirty="0">
                <a:solidFill>
                  <a:schemeClr val="bg2">
                    <a:lumMod val="75000"/>
                  </a:schemeClr>
                </a:solidFill>
                <a:latin typeface="Unbounded" pitchFamily="34" charset="0"/>
                <a:ea typeface="Unbounded" pitchFamily="34" charset="-122"/>
                <a:cs typeface="Unbounded" pitchFamily="34" charset="-120"/>
              </a:rPr>
              <a:t>Q7. Placement Status by Years of Experience</a:t>
            </a:r>
            <a:endParaRPr lang="en-US" sz="1300" dirty="0">
              <a:solidFill>
                <a:schemeClr val="bg2">
                  <a:lumMod val="75000"/>
                </a:schemeClr>
              </a:solidFill>
            </a:endParaRPr>
          </a:p>
        </p:txBody>
      </p:sp>
      <p:sp>
        <p:nvSpPr>
          <p:cNvPr id="4" name="Shape 2"/>
          <p:cNvSpPr/>
          <p:nvPr/>
        </p:nvSpPr>
        <p:spPr>
          <a:xfrm>
            <a:off x="649962" y="1307783"/>
            <a:ext cx="13330476" cy="2305288"/>
          </a:xfrm>
          <a:prstGeom prst="roundRect">
            <a:avLst>
              <a:gd name="adj" fmla="val 786"/>
            </a:avLst>
          </a:prstGeom>
          <a:solidFill>
            <a:srgbClr val="1E3543"/>
          </a:solidFill>
          <a:ln/>
        </p:spPr>
        <p:txBody>
          <a:bodyPr/>
          <a:lstStyle/>
          <a:p>
            <a:endParaRPr lang="en-IN"/>
          </a:p>
        </p:txBody>
      </p:sp>
      <p:sp>
        <p:nvSpPr>
          <p:cNvPr id="5" name="Shape 3"/>
          <p:cNvSpPr/>
          <p:nvPr/>
        </p:nvSpPr>
        <p:spPr>
          <a:xfrm>
            <a:off x="644009" y="1307783"/>
            <a:ext cx="13342382" cy="2305288"/>
          </a:xfrm>
          <a:prstGeom prst="roundRect">
            <a:avLst>
              <a:gd name="adj" fmla="val 786"/>
            </a:avLst>
          </a:prstGeom>
          <a:solidFill>
            <a:schemeClr val="tx2">
              <a:lumMod val="60000"/>
              <a:lumOff val="40000"/>
            </a:schemeClr>
          </a:solidFill>
          <a:ln/>
        </p:spPr>
        <p:txBody>
          <a:bodyPr/>
          <a:lstStyle/>
          <a:p>
            <a:endParaRPr lang="en-IN"/>
          </a:p>
        </p:txBody>
      </p:sp>
      <p:sp>
        <p:nvSpPr>
          <p:cNvPr id="6" name="Text 4"/>
          <p:cNvSpPr/>
          <p:nvPr/>
        </p:nvSpPr>
        <p:spPr>
          <a:xfrm>
            <a:off x="764619" y="1398270"/>
            <a:ext cx="13101161" cy="2124313"/>
          </a:xfrm>
          <a:prstGeom prst="rect">
            <a:avLst/>
          </a:prstGeom>
          <a:noFill/>
          <a:ln/>
        </p:spPr>
        <p:txBody>
          <a:bodyPr wrap="square" lIns="0" tIns="0" rIns="0" bIns="0" rtlCol="0" anchor="t"/>
          <a:lstStyle/>
          <a:p>
            <a:r>
              <a:rPr lang="en-US" sz="1100" dirty="0">
                <a:solidFill>
                  <a:schemeClr val="bg1"/>
                </a:solidFill>
              </a:rPr>
              <a:t>WITH base AS (</a:t>
            </a:r>
          </a:p>
          <a:p>
            <a:r>
              <a:rPr lang="en-US" sz="1100" dirty="0">
                <a:solidFill>
                  <a:schemeClr val="bg1"/>
                </a:solidFill>
              </a:rPr>
              <a:t>  SELECT </a:t>
            </a:r>
            <a:r>
              <a:rPr lang="en-US" sz="1100" dirty="0" err="1">
                <a:solidFill>
                  <a:schemeClr val="bg1"/>
                </a:solidFill>
              </a:rPr>
              <a:t>years_of_experience</a:t>
            </a:r>
            <a:r>
              <a:rPr lang="en-US" sz="1100" dirty="0">
                <a:solidFill>
                  <a:schemeClr val="bg1"/>
                </a:solidFill>
              </a:rPr>
              <a:t>, </a:t>
            </a:r>
            <a:r>
              <a:rPr lang="en-US" sz="1100" dirty="0" err="1">
                <a:solidFill>
                  <a:schemeClr val="bg1"/>
                </a:solidFill>
              </a:rPr>
              <a:t>placement_status</a:t>
            </a:r>
            <a:endParaRPr lang="en-US" sz="1100" dirty="0">
              <a:solidFill>
                <a:schemeClr val="bg1"/>
              </a:solidFill>
            </a:endParaRPr>
          </a:p>
          <a:p>
            <a:r>
              <a:rPr lang="en-US" sz="1100" dirty="0">
                <a:solidFill>
                  <a:schemeClr val="bg1"/>
                </a:solidFill>
              </a:rPr>
              <a:t>  FROM job</a:t>
            </a:r>
          </a:p>
          <a:p>
            <a:r>
              <a:rPr lang="en-US" sz="1100" dirty="0">
                <a:solidFill>
                  <a:schemeClr val="bg1"/>
                </a:solidFill>
              </a:rPr>
              <a:t>)</a:t>
            </a:r>
          </a:p>
          <a:p>
            <a:r>
              <a:rPr lang="en-US" sz="1100" dirty="0">
                <a:solidFill>
                  <a:schemeClr val="bg1"/>
                </a:solidFill>
              </a:rPr>
              <a:t>SELECT</a:t>
            </a:r>
          </a:p>
          <a:p>
            <a:r>
              <a:rPr lang="en-US" sz="1100" dirty="0">
                <a:solidFill>
                  <a:schemeClr val="bg1"/>
                </a:solidFill>
              </a:rPr>
              <a:t>  </a:t>
            </a:r>
            <a:r>
              <a:rPr lang="en-US" sz="1100" dirty="0" err="1">
                <a:solidFill>
                  <a:schemeClr val="bg1"/>
                </a:solidFill>
              </a:rPr>
              <a:t>years_of_experience</a:t>
            </a:r>
            <a:r>
              <a:rPr lang="en-US" sz="1100" dirty="0">
                <a:solidFill>
                  <a:schemeClr val="bg1"/>
                </a:solidFill>
              </a:rPr>
              <a:t>,</a:t>
            </a:r>
          </a:p>
          <a:p>
            <a:r>
              <a:rPr lang="en-US" sz="1100" dirty="0">
                <a:solidFill>
                  <a:schemeClr val="bg1"/>
                </a:solidFill>
              </a:rPr>
              <a:t>  SUM(CASE WHEN </a:t>
            </a:r>
            <a:r>
              <a:rPr lang="en-US" sz="1100" dirty="0" err="1">
                <a:solidFill>
                  <a:schemeClr val="bg1"/>
                </a:solidFill>
              </a:rPr>
              <a:t>placement_status</a:t>
            </a:r>
            <a:r>
              <a:rPr lang="en-US" sz="1100" dirty="0">
                <a:solidFill>
                  <a:schemeClr val="bg1"/>
                </a:solidFill>
              </a:rPr>
              <a:t> = 'Placed' THEN 1 ELSE 0 END) AS placed,</a:t>
            </a:r>
          </a:p>
          <a:p>
            <a:r>
              <a:rPr lang="en-US" sz="1100" dirty="0">
                <a:solidFill>
                  <a:schemeClr val="bg1"/>
                </a:solidFill>
              </a:rPr>
              <a:t>  SUM(CASE WHEN </a:t>
            </a:r>
            <a:r>
              <a:rPr lang="en-US" sz="1100" dirty="0" err="1">
                <a:solidFill>
                  <a:schemeClr val="bg1"/>
                </a:solidFill>
              </a:rPr>
              <a:t>placement_status</a:t>
            </a:r>
            <a:r>
              <a:rPr lang="en-US" sz="1100" dirty="0">
                <a:solidFill>
                  <a:schemeClr val="bg1"/>
                </a:solidFill>
              </a:rPr>
              <a:t> &lt;&gt; 'Placed' THEN 1 ELSE 0 END) AS </a:t>
            </a:r>
            <a:r>
              <a:rPr lang="en-US" sz="1100" dirty="0" err="1">
                <a:solidFill>
                  <a:schemeClr val="bg1"/>
                </a:solidFill>
              </a:rPr>
              <a:t>not_placed</a:t>
            </a:r>
            <a:endParaRPr lang="en-US" sz="1100" dirty="0">
              <a:solidFill>
                <a:schemeClr val="bg1"/>
              </a:solidFill>
            </a:endParaRPr>
          </a:p>
          <a:p>
            <a:r>
              <a:rPr lang="en-US" sz="1100" dirty="0">
                <a:solidFill>
                  <a:schemeClr val="bg1"/>
                </a:solidFill>
              </a:rPr>
              <a:t>FROM base</a:t>
            </a:r>
          </a:p>
          <a:p>
            <a:r>
              <a:rPr lang="en-US" sz="1100" dirty="0">
                <a:solidFill>
                  <a:schemeClr val="bg1"/>
                </a:solidFill>
              </a:rPr>
              <a:t>GROUP BY </a:t>
            </a:r>
            <a:r>
              <a:rPr lang="en-US" sz="1100" dirty="0" err="1">
                <a:solidFill>
                  <a:schemeClr val="bg1"/>
                </a:solidFill>
              </a:rPr>
              <a:t>years_of_experience</a:t>
            </a:r>
            <a:endParaRPr lang="en-US" sz="1100" dirty="0">
              <a:solidFill>
                <a:schemeClr val="bg1"/>
              </a:solidFill>
            </a:endParaRPr>
          </a:p>
          <a:p>
            <a:r>
              <a:rPr lang="en-US" sz="1100" dirty="0">
                <a:solidFill>
                  <a:schemeClr val="bg1"/>
                </a:solidFill>
              </a:rPr>
              <a:t>ORDER BY </a:t>
            </a:r>
            <a:r>
              <a:rPr lang="en-US" sz="1100" dirty="0" err="1">
                <a:solidFill>
                  <a:schemeClr val="bg1"/>
                </a:solidFill>
              </a:rPr>
              <a:t>years_of_experience</a:t>
            </a:r>
            <a:r>
              <a:rPr lang="en-US" sz="1100" dirty="0">
                <a:solidFill>
                  <a:schemeClr val="bg1"/>
                </a:solidFill>
              </a:rPr>
              <a:t>;</a:t>
            </a:r>
          </a:p>
        </p:txBody>
      </p:sp>
      <p:sp>
        <p:nvSpPr>
          <p:cNvPr id="7" name="Text 5"/>
          <p:cNvSpPr/>
          <p:nvPr/>
        </p:nvSpPr>
        <p:spPr>
          <a:xfrm>
            <a:off x="649962" y="3748802"/>
            <a:ext cx="13330476" cy="193119"/>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Explanation:</a:t>
            </a:r>
            <a:r>
              <a:rPr lang="en-US" sz="950" dirty="0">
                <a:solidFill>
                  <a:srgbClr val="CAD6DE"/>
                </a:solidFill>
                <a:latin typeface="Cabin" pitchFamily="34" charset="0"/>
                <a:ea typeface="Cabin" pitchFamily="34" charset="-122"/>
                <a:cs typeface="Cabin" pitchFamily="34" charset="-120"/>
              </a:rPr>
              <a:t> Analyzes the impact of experience on placement by grouping candidates based on years of experience.</a:t>
            </a:r>
            <a:endParaRPr lang="en-US" sz="950" dirty="0"/>
          </a:p>
        </p:txBody>
      </p:sp>
      <p:sp>
        <p:nvSpPr>
          <p:cNvPr id="8" name="Text 6"/>
          <p:cNvSpPr/>
          <p:nvPr/>
        </p:nvSpPr>
        <p:spPr>
          <a:xfrm>
            <a:off x="649962" y="4077653"/>
            <a:ext cx="13330476" cy="193119"/>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Insight:</a:t>
            </a:r>
            <a:r>
              <a:rPr lang="en-US" sz="950" dirty="0">
                <a:solidFill>
                  <a:srgbClr val="CAD6DE"/>
                </a:solidFill>
                <a:latin typeface="Cabin" pitchFamily="34" charset="0"/>
                <a:ea typeface="Cabin" pitchFamily="34" charset="-122"/>
                <a:cs typeface="Cabin" pitchFamily="34" charset="-120"/>
              </a:rPr>
              <a:t> Shows whether experienced students have better placement chances compared to freshers.</a:t>
            </a:r>
            <a:endParaRPr lang="en-US" sz="950" dirty="0"/>
          </a:p>
        </p:txBody>
      </p:sp>
      <p:sp>
        <p:nvSpPr>
          <p:cNvPr id="9" name="Text 7"/>
          <p:cNvSpPr/>
          <p:nvPr/>
        </p:nvSpPr>
        <p:spPr>
          <a:xfrm>
            <a:off x="649962" y="4406503"/>
            <a:ext cx="13330476" cy="193119"/>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Measures:</a:t>
            </a:r>
            <a:r>
              <a:rPr lang="en-US" sz="950" dirty="0">
                <a:solidFill>
                  <a:srgbClr val="CAD6DE"/>
                </a:solidFill>
                <a:latin typeface="Cabin" pitchFamily="34" charset="0"/>
                <a:ea typeface="Cabin" pitchFamily="34" charset="-122"/>
                <a:cs typeface="Cabin" pitchFamily="34" charset="-120"/>
              </a:rPr>
              <a:t> Encourage internships and work-based learning programs. Offer industry readiness training to improve employability for less-experienced students.</a:t>
            </a:r>
            <a:endParaRPr lang="en-US" sz="950" dirty="0"/>
          </a:p>
        </p:txBody>
      </p:sp>
      <p:sp>
        <p:nvSpPr>
          <p:cNvPr id="10" name="Shape 8"/>
          <p:cNvSpPr/>
          <p:nvPr/>
        </p:nvSpPr>
        <p:spPr>
          <a:xfrm>
            <a:off x="649962" y="4795657"/>
            <a:ext cx="13330476" cy="22622"/>
          </a:xfrm>
          <a:prstGeom prst="rect">
            <a:avLst/>
          </a:prstGeom>
          <a:solidFill>
            <a:srgbClr val="CAD6DE">
              <a:alpha val="50000"/>
            </a:srgbClr>
          </a:solidFill>
          <a:ln/>
        </p:spPr>
        <p:txBody>
          <a:bodyPr/>
          <a:lstStyle/>
          <a:p>
            <a:endParaRPr lang="en-IN"/>
          </a:p>
        </p:txBody>
      </p:sp>
      <p:sp>
        <p:nvSpPr>
          <p:cNvPr id="11" name="Text 9"/>
          <p:cNvSpPr/>
          <p:nvPr/>
        </p:nvSpPr>
        <p:spPr>
          <a:xfrm>
            <a:off x="649962" y="4999196"/>
            <a:ext cx="3930134" cy="212884"/>
          </a:xfrm>
          <a:prstGeom prst="rect">
            <a:avLst/>
          </a:prstGeom>
          <a:noFill/>
          <a:ln/>
        </p:spPr>
        <p:txBody>
          <a:bodyPr wrap="none" lIns="0" tIns="0" rIns="0" bIns="0" rtlCol="0" anchor="t"/>
          <a:lstStyle/>
          <a:p>
            <a:pPr marL="0" indent="0" algn="l">
              <a:lnSpc>
                <a:spcPts val="1650"/>
              </a:lnSpc>
              <a:buNone/>
            </a:pPr>
            <a:r>
              <a:rPr lang="en-US" sz="1300" dirty="0">
                <a:solidFill>
                  <a:schemeClr val="bg2">
                    <a:lumMod val="75000"/>
                  </a:schemeClr>
                </a:solidFill>
                <a:latin typeface="Unbounded" pitchFamily="34" charset="0"/>
                <a:ea typeface="Unbounded" pitchFamily="34" charset="-122"/>
                <a:cs typeface="Unbounded" pitchFamily="34" charset="-120"/>
              </a:rPr>
              <a:t>Q8. Average GPA: Placed vs Not Placed</a:t>
            </a:r>
            <a:endParaRPr lang="en-US" sz="1300" dirty="0">
              <a:solidFill>
                <a:schemeClr val="bg2">
                  <a:lumMod val="75000"/>
                </a:schemeClr>
              </a:solidFill>
            </a:endParaRPr>
          </a:p>
        </p:txBody>
      </p:sp>
      <p:sp>
        <p:nvSpPr>
          <p:cNvPr id="12" name="Shape 10"/>
          <p:cNvSpPr/>
          <p:nvPr/>
        </p:nvSpPr>
        <p:spPr>
          <a:xfrm>
            <a:off x="649962" y="5393055"/>
            <a:ext cx="13330476" cy="1339691"/>
          </a:xfrm>
          <a:prstGeom prst="roundRect">
            <a:avLst>
              <a:gd name="adj" fmla="val 1352"/>
            </a:avLst>
          </a:prstGeom>
          <a:solidFill>
            <a:srgbClr val="1E3543"/>
          </a:solidFill>
          <a:ln/>
        </p:spPr>
        <p:txBody>
          <a:bodyPr/>
          <a:lstStyle/>
          <a:p>
            <a:endParaRPr lang="en-IN"/>
          </a:p>
        </p:txBody>
      </p:sp>
      <p:sp>
        <p:nvSpPr>
          <p:cNvPr id="13" name="Shape 11"/>
          <p:cNvSpPr/>
          <p:nvPr/>
        </p:nvSpPr>
        <p:spPr>
          <a:xfrm>
            <a:off x="644009" y="5393055"/>
            <a:ext cx="13342382" cy="1339691"/>
          </a:xfrm>
          <a:prstGeom prst="roundRect">
            <a:avLst>
              <a:gd name="adj" fmla="val 1352"/>
            </a:avLst>
          </a:prstGeom>
          <a:solidFill>
            <a:schemeClr val="tx2">
              <a:lumMod val="60000"/>
              <a:lumOff val="40000"/>
            </a:schemeClr>
          </a:solidFill>
          <a:ln/>
        </p:spPr>
        <p:txBody>
          <a:bodyPr/>
          <a:lstStyle/>
          <a:p>
            <a:endParaRPr lang="en-IN"/>
          </a:p>
        </p:txBody>
      </p:sp>
      <p:sp>
        <p:nvSpPr>
          <p:cNvPr id="14" name="Text 12"/>
          <p:cNvSpPr/>
          <p:nvPr/>
        </p:nvSpPr>
        <p:spPr>
          <a:xfrm>
            <a:off x="764619" y="5483543"/>
            <a:ext cx="13101161" cy="1158716"/>
          </a:xfrm>
          <a:prstGeom prst="rect">
            <a:avLst/>
          </a:prstGeom>
          <a:noFill/>
          <a:ln/>
        </p:spPr>
        <p:txBody>
          <a:bodyPr wrap="square" lIns="0" tIns="0" rIns="0" bIns="0" rtlCol="0" anchor="t"/>
          <a:lstStyle/>
          <a:p>
            <a:r>
              <a:rPr lang="en-US" sz="1100" dirty="0">
                <a:solidFill>
                  <a:schemeClr val="bg1"/>
                </a:solidFill>
              </a:rPr>
              <a:t>SELECT</a:t>
            </a:r>
          </a:p>
          <a:p>
            <a:r>
              <a:rPr lang="en-US" sz="1100" dirty="0">
                <a:solidFill>
                  <a:schemeClr val="bg1"/>
                </a:solidFill>
              </a:rPr>
              <a:t>  </a:t>
            </a:r>
            <a:r>
              <a:rPr lang="en-US" sz="1100" dirty="0" err="1">
                <a:solidFill>
                  <a:schemeClr val="bg1"/>
                </a:solidFill>
              </a:rPr>
              <a:t>placement_status</a:t>
            </a:r>
            <a:r>
              <a:rPr lang="en-US" sz="1100" dirty="0">
                <a:solidFill>
                  <a:schemeClr val="bg1"/>
                </a:solidFill>
              </a:rPr>
              <a:t>,</a:t>
            </a:r>
          </a:p>
          <a:p>
            <a:r>
              <a:rPr lang="en-US" sz="1100" dirty="0">
                <a:solidFill>
                  <a:schemeClr val="bg1"/>
                </a:solidFill>
              </a:rPr>
              <a:t>  ROUND(AVG(</a:t>
            </a:r>
            <a:r>
              <a:rPr lang="en-US" sz="1100" dirty="0" err="1">
                <a:solidFill>
                  <a:schemeClr val="bg1"/>
                </a:solidFill>
              </a:rPr>
              <a:t>gpa</a:t>
            </a:r>
            <a:r>
              <a:rPr lang="en-US" sz="1100" dirty="0">
                <a:solidFill>
                  <a:schemeClr val="bg1"/>
                </a:solidFill>
              </a:rPr>
              <a:t>), 4) AS </a:t>
            </a:r>
            <a:r>
              <a:rPr lang="en-US" sz="1100" dirty="0" err="1">
                <a:solidFill>
                  <a:schemeClr val="bg1"/>
                </a:solidFill>
              </a:rPr>
              <a:t>avg_gpa</a:t>
            </a:r>
            <a:endParaRPr lang="en-US" sz="1100" dirty="0">
              <a:solidFill>
                <a:schemeClr val="bg1"/>
              </a:solidFill>
            </a:endParaRPr>
          </a:p>
          <a:p>
            <a:r>
              <a:rPr lang="en-US" sz="1100" dirty="0">
                <a:solidFill>
                  <a:schemeClr val="bg1"/>
                </a:solidFill>
              </a:rPr>
              <a:t>FROM job</a:t>
            </a:r>
          </a:p>
          <a:p>
            <a:r>
              <a:rPr lang="en-US" sz="1100" dirty="0">
                <a:solidFill>
                  <a:schemeClr val="bg1"/>
                </a:solidFill>
              </a:rPr>
              <a:t>GROUP BY </a:t>
            </a:r>
            <a:r>
              <a:rPr lang="en-US" sz="1100" dirty="0" err="1">
                <a:solidFill>
                  <a:schemeClr val="bg1"/>
                </a:solidFill>
              </a:rPr>
              <a:t>placement_status</a:t>
            </a:r>
            <a:endParaRPr lang="en-US" sz="1100" dirty="0">
              <a:solidFill>
                <a:schemeClr val="bg1"/>
              </a:solidFill>
            </a:endParaRPr>
          </a:p>
          <a:p>
            <a:r>
              <a:rPr lang="en-US" sz="1100" dirty="0">
                <a:solidFill>
                  <a:schemeClr val="bg1"/>
                </a:solidFill>
              </a:rPr>
              <a:t>ORDER BY </a:t>
            </a:r>
            <a:r>
              <a:rPr lang="en-US" sz="1100" dirty="0" err="1">
                <a:solidFill>
                  <a:schemeClr val="bg1"/>
                </a:solidFill>
              </a:rPr>
              <a:t>placement_status</a:t>
            </a:r>
            <a:r>
              <a:rPr lang="en-US" sz="1100" dirty="0">
                <a:solidFill>
                  <a:schemeClr val="bg1"/>
                </a:solidFill>
              </a:rPr>
              <a:t>;</a:t>
            </a:r>
          </a:p>
        </p:txBody>
      </p:sp>
      <p:sp>
        <p:nvSpPr>
          <p:cNvPr id="15" name="Text 13"/>
          <p:cNvSpPr/>
          <p:nvPr/>
        </p:nvSpPr>
        <p:spPr>
          <a:xfrm>
            <a:off x="649962" y="6868478"/>
            <a:ext cx="13330476" cy="193119"/>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Explanation:</a:t>
            </a:r>
            <a:r>
              <a:rPr lang="en-US" sz="950" dirty="0">
                <a:solidFill>
                  <a:srgbClr val="CAD6DE"/>
                </a:solidFill>
                <a:latin typeface="Cabin" pitchFamily="34" charset="0"/>
                <a:ea typeface="Cabin" pitchFamily="34" charset="-122"/>
                <a:cs typeface="Cabin" pitchFamily="34" charset="-120"/>
              </a:rPr>
              <a:t> Compares the average GPA between placed and unplaced students.</a:t>
            </a:r>
            <a:endParaRPr lang="en-US" sz="950" dirty="0"/>
          </a:p>
        </p:txBody>
      </p:sp>
      <p:sp>
        <p:nvSpPr>
          <p:cNvPr id="16" name="Text 14"/>
          <p:cNvSpPr/>
          <p:nvPr/>
        </p:nvSpPr>
        <p:spPr>
          <a:xfrm>
            <a:off x="649962" y="7197328"/>
            <a:ext cx="13330476" cy="193119"/>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Insight:</a:t>
            </a:r>
            <a:r>
              <a:rPr lang="en-US" sz="950" dirty="0">
                <a:solidFill>
                  <a:srgbClr val="CAD6DE"/>
                </a:solidFill>
                <a:latin typeface="Cabin" pitchFamily="34" charset="0"/>
                <a:ea typeface="Cabin" pitchFamily="34" charset="-122"/>
                <a:cs typeface="Cabin" pitchFamily="34" charset="-120"/>
              </a:rPr>
              <a:t> Shows the relationship between academic performance and placement success.</a:t>
            </a:r>
            <a:endParaRPr lang="en-US" sz="950" dirty="0"/>
          </a:p>
        </p:txBody>
      </p:sp>
      <p:sp>
        <p:nvSpPr>
          <p:cNvPr id="17" name="Text 15"/>
          <p:cNvSpPr/>
          <p:nvPr/>
        </p:nvSpPr>
        <p:spPr>
          <a:xfrm>
            <a:off x="649962" y="7526179"/>
            <a:ext cx="13330476" cy="193119"/>
          </a:xfrm>
          <a:prstGeom prst="rect">
            <a:avLst/>
          </a:prstGeom>
          <a:noFill/>
          <a:ln/>
        </p:spPr>
        <p:txBody>
          <a:bodyPr wrap="none" lIns="0" tIns="0" rIns="0" bIns="0" rtlCol="0" anchor="t"/>
          <a:lstStyle/>
          <a:p>
            <a:pPr marL="0" indent="0" algn="l">
              <a:lnSpc>
                <a:spcPts val="1500"/>
              </a:lnSpc>
              <a:buNone/>
            </a:pPr>
            <a:r>
              <a:rPr lang="en-US" sz="950" b="1" dirty="0">
                <a:solidFill>
                  <a:srgbClr val="CAD6DE"/>
                </a:solidFill>
                <a:latin typeface="Cabin" pitchFamily="34" charset="0"/>
                <a:ea typeface="Cabin" pitchFamily="34" charset="-122"/>
                <a:cs typeface="Cabin" pitchFamily="34" charset="-120"/>
              </a:rPr>
              <a:t>Measures:</a:t>
            </a:r>
            <a:r>
              <a:rPr lang="en-US" sz="950" dirty="0">
                <a:solidFill>
                  <a:srgbClr val="CAD6DE"/>
                </a:solidFill>
                <a:latin typeface="Cabin" pitchFamily="34" charset="0"/>
                <a:ea typeface="Cabin" pitchFamily="34" charset="-122"/>
                <a:cs typeface="Cabin" pitchFamily="34" charset="-120"/>
              </a:rPr>
              <a:t> Implement remedial classes or academic mentoring for low-GPA students. Introduce GPA-linked career workshops to help students convert academic performance into employability skills.</a:t>
            </a:r>
            <a:endParaRPr lang="en-US" sz="950" dirty="0"/>
          </a:p>
        </p:txBody>
      </p:sp>
      <p:pic>
        <p:nvPicPr>
          <p:cNvPr id="19" name="Picture 18">
            <a:extLst>
              <a:ext uri="{FF2B5EF4-FFF2-40B4-BE49-F238E27FC236}">
                <a16:creationId xmlns:a16="http://schemas.microsoft.com/office/drawing/2014/main" id="{A097EF62-FEE2-3501-7264-98C6F382106D}"/>
              </a:ext>
            </a:extLst>
          </p:cNvPr>
          <p:cNvPicPr>
            <a:picLocks noChangeAspect="1"/>
          </p:cNvPicPr>
          <p:nvPr/>
        </p:nvPicPr>
        <p:blipFill>
          <a:blip r:embed="rId3"/>
          <a:stretch>
            <a:fillRect/>
          </a:stretch>
        </p:blipFill>
        <p:spPr>
          <a:xfrm>
            <a:off x="8686116" y="1587341"/>
            <a:ext cx="4950196" cy="1740012"/>
          </a:xfrm>
          <a:prstGeom prst="rect">
            <a:avLst/>
          </a:prstGeom>
        </p:spPr>
      </p:pic>
      <p:pic>
        <p:nvPicPr>
          <p:cNvPr id="21" name="Picture 20">
            <a:extLst>
              <a:ext uri="{FF2B5EF4-FFF2-40B4-BE49-F238E27FC236}">
                <a16:creationId xmlns:a16="http://schemas.microsoft.com/office/drawing/2014/main" id="{6351D1E5-1E9F-4665-AF1B-70D3703D5F4C}"/>
              </a:ext>
            </a:extLst>
          </p:cNvPr>
          <p:cNvPicPr>
            <a:picLocks noChangeAspect="1"/>
          </p:cNvPicPr>
          <p:nvPr/>
        </p:nvPicPr>
        <p:blipFill>
          <a:blip r:embed="rId4"/>
          <a:stretch>
            <a:fillRect/>
          </a:stretch>
        </p:blipFill>
        <p:spPr>
          <a:xfrm>
            <a:off x="9473237" y="5483543"/>
            <a:ext cx="3375953" cy="11888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72559" y="371237"/>
            <a:ext cx="6266855" cy="258008"/>
          </a:xfrm>
          <a:prstGeom prst="rect">
            <a:avLst/>
          </a:prstGeom>
          <a:noFill/>
          <a:ln/>
        </p:spPr>
        <p:txBody>
          <a:bodyPr wrap="none" lIns="0" tIns="0" rIns="0" bIns="0" rtlCol="0" anchor="t"/>
          <a:lstStyle/>
          <a:p>
            <a:pPr marL="0" indent="0" algn="l">
              <a:lnSpc>
                <a:spcPts val="2000"/>
              </a:lnSpc>
              <a:buNone/>
            </a:pPr>
            <a:r>
              <a:rPr lang="en-US" sz="1600" dirty="0">
                <a:solidFill>
                  <a:srgbClr val="FFFFFF"/>
                </a:solidFill>
                <a:latin typeface="Unbounded" pitchFamily="34" charset="0"/>
                <a:ea typeface="Unbounded" pitchFamily="34" charset="-122"/>
                <a:cs typeface="Unbounded" pitchFamily="34" charset="-120"/>
              </a:rPr>
              <a:t>Q9 &amp; Q10: Age Demographics and College Rankings</a:t>
            </a:r>
            <a:endParaRPr lang="en-US" sz="1600" dirty="0"/>
          </a:p>
        </p:txBody>
      </p:sp>
      <p:sp>
        <p:nvSpPr>
          <p:cNvPr id="3" name="Text 1"/>
          <p:cNvSpPr/>
          <p:nvPr/>
        </p:nvSpPr>
        <p:spPr>
          <a:xfrm>
            <a:off x="472559" y="664250"/>
            <a:ext cx="2276832" cy="154900"/>
          </a:xfrm>
          <a:prstGeom prst="rect">
            <a:avLst/>
          </a:prstGeom>
          <a:noFill/>
          <a:ln/>
        </p:spPr>
        <p:txBody>
          <a:bodyPr wrap="none" lIns="0" tIns="0" rIns="0" bIns="0" rtlCol="0" anchor="t"/>
          <a:lstStyle/>
          <a:p>
            <a:pPr marL="0" indent="0" algn="l">
              <a:lnSpc>
                <a:spcPts val="1200"/>
              </a:lnSpc>
              <a:buNone/>
            </a:pPr>
            <a:r>
              <a:rPr lang="en-US" sz="950" dirty="0">
                <a:solidFill>
                  <a:schemeClr val="bg2">
                    <a:lumMod val="75000"/>
                  </a:schemeClr>
                </a:solidFill>
                <a:latin typeface="Unbounded" pitchFamily="34" charset="0"/>
                <a:ea typeface="Unbounded" pitchFamily="34" charset="-122"/>
                <a:cs typeface="Unbounded" pitchFamily="34" charset="-120"/>
              </a:rPr>
              <a:t>Q9. Age-Group Placement Rate</a:t>
            </a:r>
            <a:endParaRPr lang="en-US" sz="950" dirty="0">
              <a:solidFill>
                <a:schemeClr val="bg2">
                  <a:lumMod val="75000"/>
                </a:schemeClr>
              </a:solidFill>
            </a:endParaRPr>
          </a:p>
        </p:txBody>
      </p:sp>
      <p:sp>
        <p:nvSpPr>
          <p:cNvPr id="4" name="Shape 2"/>
          <p:cNvSpPr/>
          <p:nvPr/>
        </p:nvSpPr>
        <p:spPr>
          <a:xfrm>
            <a:off x="472559" y="950714"/>
            <a:ext cx="13685282" cy="3640812"/>
          </a:xfrm>
          <a:prstGeom prst="roundRect">
            <a:avLst>
              <a:gd name="adj" fmla="val 362"/>
            </a:avLst>
          </a:prstGeom>
          <a:solidFill>
            <a:srgbClr val="1E3543"/>
          </a:solidFill>
          <a:ln/>
        </p:spPr>
        <p:txBody>
          <a:bodyPr/>
          <a:lstStyle/>
          <a:p>
            <a:endParaRPr lang="en-IN"/>
          </a:p>
        </p:txBody>
      </p:sp>
      <p:sp>
        <p:nvSpPr>
          <p:cNvPr id="5" name="Shape 3"/>
          <p:cNvSpPr/>
          <p:nvPr/>
        </p:nvSpPr>
        <p:spPr>
          <a:xfrm>
            <a:off x="468273" y="950714"/>
            <a:ext cx="13693854" cy="3640812"/>
          </a:xfrm>
          <a:prstGeom prst="roundRect">
            <a:avLst>
              <a:gd name="adj" fmla="val 362"/>
            </a:avLst>
          </a:prstGeom>
          <a:solidFill>
            <a:schemeClr val="tx2">
              <a:lumMod val="60000"/>
              <a:lumOff val="40000"/>
            </a:schemeClr>
          </a:solidFill>
          <a:ln/>
        </p:spPr>
        <p:txBody>
          <a:bodyPr/>
          <a:lstStyle/>
          <a:p>
            <a:endParaRPr lang="en-IN" dirty="0"/>
          </a:p>
        </p:txBody>
      </p:sp>
      <p:sp>
        <p:nvSpPr>
          <p:cNvPr id="6" name="Text 4"/>
          <p:cNvSpPr/>
          <p:nvPr/>
        </p:nvSpPr>
        <p:spPr>
          <a:xfrm>
            <a:off x="556022" y="1016437"/>
            <a:ext cx="13518356" cy="3509367"/>
          </a:xfrm>
          <a:prstGeom prst="rect">
            <a:avLst/>
          </a:prstGeom>
          <a:noFill/>
          <a:ln/>
        </p:spPr>
        <p:txBody>
          <a:bodyPr wrap="square" lIns="0" tIns="0" rIns="0" bIns="0" rtlCol="0" anchor="t"/>
          <a:lstStyle/>
          <a:p>
            <a:r>
              <a:rPr lang="en-US" sz="900" dirty="0">
                <a:solidFill>
                  <a:schemeClr val="bg1"/>
                </a:solidFill>
              </a:rPr>
              <a:t>WITH </a:t>
            </a:r>
            <a:r>
              <a:rPr lang="en-US" sz="900" dirty="0" err="1">
                <a:solidFill>
                  <a:schemeClr val="bg1"/>
                </a:solidFill>
              </a:rPr>
              <a:t>placement_rate</a:t>
            </a:r>
            <a:r>
              <a:rPr lang="en-US" sz="900" dirty="0">
                <a:solidFill>
                  <a:schemeClr val="bg1"/>
                </a:solidFill>
              </a:rPr>
              <a:t> AS (</a:t>
            </a:r>
          </a:p>
          <a:p>
            <a:r>
              <a:rPr lang="en-US" sz="900" dirty="0">
                <a:solidFill>
                  <a:schemeClr val="bg1"/>
                </a:solidFill>
              </a:rPr>
              <a:t>  SELECT</a:t>
            </a:r>
          </a:p>
          <a:p>
            <a:r>
              <a:rPr lang="en-US" sz="900" dirty="0">
                <a:solidFill>
                  <a:schemeClr val="bg1"/>
                </a:solidFill>
              </a:rPr>
              <a:t>    CASE</a:t>
            </a:r>
          </a:p>
          <a:p>
            <a:r>
              <a:rPr lang="en-US" sz="900" dirty="0">
                <a:solidFill>
                  <a:schemeClr val="bg1"/>
                </a:solidFill>
              </a:rPr>
              <a:t>      WHEN age &lt; 23 THEN '&lt;23'</a:t>
            </a:r>
          </a:p>
          <a:p>
            <a:r>
              <a:rPr lang="en-US" sz="900" dirty="0">
                <a:solidFill>
                  <a:schemeClr val="bg1"/>
                </a:solidFill>
              </a:rPr>
              <a:t>      WHEN age BETWEEN 23 AND 25 THEN '23-25'</a:t>
            </a:r>
          </a:p>
          <a:p>
            <a:r>
              <a:rPr lang="en-US" sz="900" dirty="0">
                <a:solidFill>
                  <a:schemeClr val="bg1"/>
                </a:solidFill>
              </a:rPr>
              <a:t>      ELSE '&gt;25'</a:t>
            </a:r>
          </a:p>
          <a:p>
            <a:r>
              <a:rPr lang="en-US" sz="900" dirty="0">
                <a:solidFill>
                  <a:schemeClr val="bg1"/>
                </a:solidFill>
              </a:rPr>
              <a:t>    END AS </a:t>
            </a:r>
            <a:r>
              <a:rPr lang="en-US" sz="900" dirty="0" err="1">
                <a:solidFill>
                  <a:schemeClr val="bg1"/>
                </a:solidFill>
              </a:rPr>
              <a:t>age_group</a:t>
            </a:r>
            <a:r>
              <a:rPr lang="en-US" sz="900" dirty="0">
                <a:solidFill>
                  <a:schemeClr val="bg1"/>
                </a:solidFill>
              </a:rPr>
              <a:t>,</a:t>
            </a:r>
          </a:p>
          <a:p>
            <a:r>
              <a:rPr lang="en-US" sz="900" dirty="0">
                <a:solidFill>
                  <a:schemeClr val="bg1"/>
                </a:solidFill>
              </a:rPr>
              <a:t>    </a:t>
            </a:r>
            <a:r>
              <a:rPr lang="en-US" sz="900" dirty="0" err="1">
                <a:solidFill>
                  <a:schemeClr val="bg1"/>
                </a:solidFill>
              </a:rPr>
              <a:t>placement_status</a:t>
            </a:r>
            <a:endParaRPr lang="en-US" sz="900" dirty="0">
              <a:solidFill>
                <a:schemeClr val="bg1"/>
              </a:solidFill>
            </a:endParaRPr>
          </a:p>
          <a:p>
            <a:r>
              <a:rPr lang="en-US" sz="900" dirty="0">
                <a:solidFill>
                  <a:schemeClr val="bg1"/>
                </a:solidFill>
              </a:rPr>
              <a:t>  FROM job</a:t>
            </a:r>
          </a:p>
          <a:p>
            <a:r>
              <a:rPr lang="en-US" sz="900" dirty="0">
                <a:solidFill>
                  <a:schemeClr val="bg1"/>
                </a:solidFill>
              </a:rPr>
              <a:t>),</a:t>
            </a:r>
          </a:p>
          <a:p>
            <a:r>
              <a:rPr lang="en-US" sz="900" dirty="0" err="1">
                <a:solidFill>
                  <a:schemeClr val="bg1"/>
                </a:solidFill>
              </a:rPr>
              <a:t>agegroup</a:t>
            </a:r>
            <a:r>
              <a:rPr lang="en-US" sz="900" dirty="0">
                <a:solidFill>
                  <a:schemeClr val="bg1"/>
                </a:solidFill>
              </a:rPr>
              <a:t> AS (</a:t>
            </a:r>
          </a:p>
          <a:p>
            <a:r>
              <a:rPr lang="en-US" sz="900" dirty="0">
                <a:solidFill>
                  <a:schemeClr val="bg1"/>
                </a:solidFill>
              </a:rPr>
              <a:t>  SELECT</a:t>
            </a:r>
          </a:p>
          <a:p>
            <a:r>
              <a:rPr lang="en-US" sz="900" dirty="0">
                <a:solidFill>
                  <a:schemeClr val="bg1"/>
                </a:solidFill>
              </a:rPr>
              <a:t>    </a:t>
            </a:r>
            <a:r>
              <a:rPr lang="en-US" sz="900" dirty="0" err="1">
                <a:solidFill>
                  <a:schemeClr val="bg1"/>
                </a:solidFill>
              </a:rPr>
              <a:t>age_group</a:t>
            </a:r>
            <a:r>
              <a:rPr lang="en-US" sz="900" dirty="0">
                <a:solidFill>
                  <a:schemeClr val="bg1"/>
                </a:solidFill>
              </a:rPr>
              <a:t>,</a:t>
            </a:r>
          </a:p>
          <a:p>
            <a:r>
              <a:rPr lang="en-US" sz="900" dirty="0">
                <a:solidFill>
                  <a:schemeClr val="bg1"/>
                </a:solidFill>
              </a:rPr>
              <a:t>    COUNT(*) AS total,</a:t>
            </a:r>
          </a:p>
          <a:p>
            <a:r>
              <a:rPr lang="en-US" sz="900" dirty="0">
                <a:solidFill>
                  <a:schemeClr val="bg1"/>
                </a:solidFill>
              </a:rPr>
              <a:t>    SUM(CASE WHEN </a:t>
            </a:r>
            <a:r>
              <a:rPr lang="en-US" sz="900" dirty="0" err="1">
                <a:solidFill>
                  <a:schemeClr val="bg1"/>
                </a:solidFill>
              </a:rPr>
              <a:t>placement_status</a:t>
            </a:r>
            <a:r>
              <a:rPr lang="en-US" sz="900" dirty="0">
                <a:solidFill>
                  <a:schemeClr val="bg1"/>
                </a:solidFill>
              </a:rPr>
              <a:t> = 'Placed' THEN 1 ELSE 0 END) AS placed</a:t>
            </a:r>
          </a:p>
          <a:p>
            <a:r>
              <a:rPr lang="en-US" sz="900" dirty="0">
                <a:solidFill>
                  <a:schemeClr val="bg1"/>
                </a:solidFill>
              </a:rPr>
              <a:t>  FROM </a:t>
            </a:r>
            <a:r>
              <a:rPr lang="en-US" sz="900" dirty="0" err="1">
                <a:solidFill>
                  <a:schemeClr val="bg1"/>
                </a:solidFill>
              </a:rPr>
              <a:t>placement_rate</a:t>
            </a:r>
            <a:endParaRPr lang="en-US" sz="900" dirty="0">
              <a:solidFill>
                <a:schemeClr val="bg1"/>
              </a:solidFill>
            </a:endParaRPr>
          </a:p>
          <a:p>
            <a:r>
              <a:rPr lang="en-US" sz="900" dirty="0">
                <a:solidFill>
                  <a:schemeClr val="bg1"/>
                </a:solidFill>
              </a:rPr>
              <a:t>  GROUP BY </a:t>
            </a:r>
            <a:r>
              <a:rPr lang="en-US" sz="900" dirty="0" err="1">
                <a:solidFill>
                  <a:schemeClr val="bg1"/>
                </a:solidFill>
              </a:rPr>
              <a:t>age_group</a:t>
            </a:r>
            <a:endParaRPr lang="en-US" sz="900" dirty="0">
              <a:solidFill>
                <a:schemeClr val="bg1"/>
              </a:solidFill>
            </a:endParaRPr>
          </a:p>
          <a:p>
            <a:r>
              <a:rPr lang="en-US" sz="900" dirty="0">
                <a:solidFill>
                  <a:schemeClr val="bg1"/>
                </a:solidFill>
              </a:rPr>
              <a:t>)</a:t>
            </a:r>
          </a:p>
          <a:p>
            <a:r>
              <a:rPr lang="en-US" sz="900" dirty="0">
                <a:solidFill>
                  <a:schemeClr val="bg1"/>
                </a:solidFill>
              </a:rPr>
              <a:t>SELECT</a:t>
            </a:r>
          </a:p>
          <a:p>
            <a:r>
              <a:rPr lang="en-US" sz="900" dirty="0">
                <a:solidFill>
                  <a:schemeClr val="bg1"/>
                </a:solidFill>
              </a:rPr>
              <a:t>  </a:t>
            </a:r>
            <a:r>
              <a:rPr lang="en-US" sz="900" dirty="0" err="1">
                <a:solidFill>
                  <a:schemeClr val="bg1"/>
                </a:solidFill>
              </a:rPr>
              <a:t>age_group</a:t>
            </a:r>
            <a:r>
              <a:rPr lang="en-US" sz="900" dirty="0">
                <a:solidFill>
                  <a:schemeClr val="bg1"/>
                </a:solidFill>
              </a:rPr>
              <a:t>,</a:t>
            </a:r>
          </a:p>
          <a:p>
            <a:r>
              <a:rPr lang="en-US" sz="900" dirty="0">
                <a:solidFill>
                  <a:schemeClr val="bg1"/>
                </a:solidFill>
              </a:rPr>
              <a:t>  total,</a:t>
            </a:r>
          </a:p>
          <a:p>
            <a:r>
              <a:rPr lang="en-US" sz="900" dirty="0">
                <a:solidFill>
                  <a:schemeClr val="bg1"/>
                </a:solidFill>
              </a:rPr>
              <a:t>  placed,</a:t>
            </a:r>
          </a:p>
          <a:p>
            <a:r>
              <a:rPr lang="en-US" sz="900" dirty="0">
                <a:solidFill>
                  <a:schemeClr val="bg1"/>
                </a:solidFill>
              </a:rPr>
              <a:t>  ROUND(100.0 * placed / NULLIF(total, 0), 2) AS </a:t>
            </a:r>
            <a:r>
              <a:rPr lang="en-US" sz="900" dirty="0" err="1">
                <a:solidFill>
                  <a:schemeClr val="bg1"/>
                </a:solidFill>
              </a:rPr>
              <a:t>placement_rate_percent</a:t>
            </a:r>
            <a:endParaRPr lang="en-US" sz="900" dirty="0">
              <a:solidFill>
                <a:schemeClr val="bg1"/>
              </a:solidFill>
            </a:endParaRPr>
          </a:p>
          <a:p>
            <a:r>
              <a:rPr lang="en-US" sz="900" dirty="0">
                <a:solidFill>
                  <a:schemeClr val="bg1"/>
                </a:solidFill>
              </a:rPr>
              <a:t>FROM </a:t>
            </a:r>
            <a:r>
              <a:rPr lang="en-US" sz="900" dirty="0" err="1">
                <a:solidFill>
                  <a:schemeClr val="bg1"/>
                </a:solidFill>
              </a:rPr>
              <a:t>agegroup</a:t>
            </a:r>
            <a:endParaRPr lang="en-US" sz="900" dirty="0">
              <a:solidFill>
                <a:schemeClr val="bg1"/>
              </a:solidFill>
            </a:endParaRPr>
          </a:p>
          <a:p>
            <a:r>
              <a:rPr lang="en-US" sz="900" dirty="0">
                <a:solidFill>
                  <a:schemeClr val="bg1"/>
                </a:solidFill>
              </a:rPr>
              <a:t>ORDER BY CASE </a:t>
            </a:r>
            <a:r>
              <a:rPr lang="en-US" sz="900" dirty="0" err="1">
                <a:solidFill>
                  <a:schemeClr val="bg1"/>
                </a:solidFill>
              </a:rPr>
              <a:t>age_group</a:t>
            </a:r>
            <a:r>
              <a:rPr lang="en-US" sz="900" dirty="0">
                <a:solidFill>
                  <a:schemeClr val="bg1"/>
                </a:solidFill>
              </a:rPr>
              <a:t> WHEN '&lt;23' THEN 1 WHEN '23-25' THEN 2 ELSE 3 END;</a:t>
            </a:r>
          </a:p>
        </p:txBody>
      </p:sp>
      <p:sp>
        <p:nvSpPr>
          <p:cNvPr id="7" name="Text 5"/>
          <p:cNvSpPr/>
          <p:nvPr/>
        </p:nvSpPr>
        <p:spPr>
          <a:xfrm>
            <a:off x="472559" y="4690229"/>
            <a:ext cx="13685282" cy="140375"/>
          </a:xfrm>
          <a:prstGeom prst="rect">
            <a:avLst/>
          </a:prstGeom>
          <a:noFill/>
          <a:ln/>
        </p:spPr>
        <p:txBody>
          <a:bodyPr wrap="none" lIns="0" tIns="0" rIns="0" bIns="0" rtlCol="0" anchor="t"/>
          <a:lstStyle/>
          <a:p>
            <a:pPr marL="0" indent="0" algn="l">
              <a:lnSpc>
                <a:spcPts val="1100"/>
              </a:lnSpc>
              <a:buNone/>
            </a:pPr>
            <a:r>
              <a:rPr lang="en-US" sz="650" b="1" dirty="0">
                <a:solidFill>
                  <a:srgbClr val="CAD6DE"/>
                </a:solidFill>
                <a:latin typeface="Cabin" pitchFamily="34" charset="0"/>
                <a:ea typeface="Cabin" pitchFamily="34" charset="-122"/>
                <a:cs typeface="Cabin" pitchFamily="34" charset="-120"/>
              </a:rPr>
              <a:t>Explanation:</a:t>
            </a:r>
            <a:r>
              <a:rPr lang="en-US" sz="650" dirty="0">
                <a:solidFill>
                  <a:srgbClr val="CAD6DE"/>
                </a:solidFill>
                <a:latin typeface="Cabin" pitchFamily="34" charset="0"/>
                <a:ea typeface="Cabin" pitchFamily="34" charset="-122"/>
                <a:cs typeface="Cabin" pitchFamily="34" charset="-120"/>
              </a:rPr>
              <a:t> Groups candidates into age brackets and calculates placement rates.</a:t>
            </a:r>
            <a:endParaRPr lang="en-US" sz="650" dirty="0"/>
          </a:p>
        </p:txBody>
      </p:sp>
      <p:sp>
        <p:nvSpPr>
          <p:cNvPr id="8" name="Text 6"/>
          <p:cNvSpPr/>
          <p:nvPr/>
        </p:nvSpPr>
        <p:spPr>
          <a:xfrm>
            <a:off x="472559" y="4929307"/>
            <a:ext cx="13685282" cy="140375"/>
          </a:xfrm>
          <a:prstGeom prst="rect">
            <a:avLst/>
          </a:prstGeom>
          <a:noFill/>
          <a:ln/>
        </p:spPr>
        <p:txBody>
          <a:bodyPr wrap="none" lIns="0" tIns="0" rIns="0" bIns="0" rtlCol="0" anchor="t"/>
          <a:lstStyle/>
          <a:p>
            <a:pPr marL="0" indent="0" algn="l">
              <a:lnSpc>
                <a:spcPts val="1100"/>
              </a:lnSpc>
              <a:buNone/>
            </a:pPr>
            <a:r>
              <a:rPr lang="en-US" sz="650" b="1" dirty="0">
                <a:solidFill>
                  <a:srgbClr val="CAD6DE"/>
                </a:solidFill>
                <a:latin typeface="Cabin" pitchFamily="34" charset="0"/>
                <a:ea typeface="Cabin" pitchFamily="34" charset="-122"/>
                <a:cs typeface="Cabin" pitchFamily="34" charset="-120"/>
              </a:rPr>
              <a:t>Insight:</a:t>
            </a:r>
            <a:r>
              <a:rPr lang="en-US" sz="650" dirty="0">
                <a:solidFill>
                  <a:srgbClr val="CAD6DE"/>
                </a:solidFill>
                <a:latin typeface="Cabin" pitchFamily="34" charset="0"/>
                <a:ea typeface="Cabin" pitchFamily="34" charset="-122"/>
                <a:cs typeface="Cabin" pitchFamily="34" charset="-120"/>
              </a:rPr>
              <a:t> Indicates how age correlates with employability—for example, students aged 23–25 may have the highest placement rate.</a:t>
            </a:r>
            <a:endParaRPr lang="en-US" sz="650" dirty="0"/>
          </a:p>
        </p:txBody>
      </p:sp>
      <p:sp>
        <p:nvSpPr>
          <p:cNvPr id="9" name="Text 7"/>
          <p:cNvSpPr/>
          <p:nvPr/>
        </p:nvSpPr>
        <p:spPr>
          <a:xfrm>
            <a:off x="472559" y="5168384"/>
            <a:ext cx="13685282" cy="140375"/>
          </a:xfrm>
          <a:prstGeom prst="rect">
            <a:avLst/>
          </a:prstGeom>
          <a:noFill/>
          <a:ln/>
        </p:spPr>
        <p:txBody>
          <a:bodyPr wrap="none" lIns="0" tIns="0" rIns="0" bIns="0" rtlCol="0" anchor="t"/>
          <a:lstStyle/>
          <a:p>
            <a:pPr marL="0" indent="0" algn="l">
              <a:lnSpc>
                <a:spcPts val="1100"/>
              </a:lnSpc>
              <a:buNone/>
            </a:pPr>
            <a:r>
              <a:rPr lang="en-US" sz="650" b="1" dirty="0">
                <a:solidFill>
                  <a:srgbClr val="CAD6DE"/>
                </a:solidFill>
                <a:latin typeface="Cabin" pitchFamily="34" charset="0"/>
                <a:ea typeface="Cabin" pitchFamily="34" charset="-122"/>
                <a:cs typeface="Cabin" pitchFamily="34" charset="-120"/>
              </a:rPr>
              <a:t>Measures:</a:t>
            </a:r>
            <a:r>
              <a:rPr lang="en-US" sz="650" dirty="0">
                <a:solidFill>
                  <a:srgbClr val="CAD6DE"/>
                </a:solidFill>
                <a:latin typeface="Cabin" pitchFamily="34" charset="0"/>
                <a:ea typeface="Cabin" pitchFamily="34" charset="-122"/>
                <a:cs typeface="Cabin" pitchFamily="34" charset="-120"/>
              </a:rPr>
              <a:t> Tailor career preparation programs by age group. Provide early career planning sessions for younger candidates. Offer advanced training for older students re-entering the job market.</a:t>
            </a:r>
            <a:endParaRPr lang="en-US" sz="650" dirty="0"/>
          </a:p>
        </p:txBody>
      </p:sp>
      <p:sp>
        <p:nvSpPr>
          <p:cNvPr id="10" name="Shape 8"/>
          <p:cNvSpPr/>
          <p:nvPr/>
        </p:nvSpPr>
        <p:spPr>
          <a:xfrm>
            <a:off x="472559" y="5451309"/>
            <a:ext cx="13685282" cy="18574"/>
          </a:xfrm>
          <a:prstGeom prst="rect">
            <a:avLst/>
          </a:prstGeom>
          <a:solidFill>
            <a:srgbClr val="CAD6DE">
              <a:alpha val="50000"/>
            </a:srgbClr>
          </a:solidFill>
          <a:ln/>
        </p:spPr>
        <p:txBody>
          <a:bodyPr/>
          <a:lstStyle/>
          <a:p>
            <a:endParaRPr lang="en-IN"/>
          </a:p>
        </p:txBody>
      </p:sp>
      <p:sp>
        <p:nvSpPr>
          <p:cNvPr id="11" name="Text 9"/>
          <p:cNvSpPr/>
          <p:nvPr/>
        </p:nvSpPr>
        <p:spPr>
          <a:xfrm>
            <a:off x="472559" y="5601414"/>
            <a:ext cx="4068723" cy="154900"/>
          </a:xfrm>
          <a:prstGeom prst="rect">
            <a:avLst/>
          </a:prstGeom>
          <a:noFill/>
          <a:ln/>
        </p:spPr>
        <p:txBody>
          <a:bodyPr wrap="none" lIns="0" tIns="0" rIns="0" bIns="0" rtlCol="0" anchor="t"/>
          <a:lstStyle/>
          <a:p>
            <a:pPr marL="0" indent="0" algn="l">
              <a:lnSpc>
                <a:spcPts val="1200"/>
              </a:lnSpc>
              <a:buNone/>
            </a:pPr>
            <a:r>
              <a:rPr lang="en-US" sz="950" dirty="0">
                <a:solidFill>
                  <a:schemeClr val="bg2">
                    <a:lumMod val="75000"/>
                  </a:schemeClr>
                </a:solidFill>
                <a:latin typeface="Unbounded" pitchFamily="34" charset="0"/>
                <a:ea typeface="Unbounded" pitchFamily="34" charset="-122"/>
                <a:cs typeface="Unbounded" pitchFamily="34" charset="-120"/>
              </a:rPr>
              <a:t>Q10. Colleges with Highest Average Salary (Placed Only)</a:t>
            </a:r>
            <a:endParaRPr lang="en-US" sz="950" dirty="0">
              <a:solidFill>
                <a:schemeClr val="bg2">
                  <a:lumMod val="75000"/>
                </a:schemeClr>
              </a:solidFill>
            </a:endParaRPr>
          </a:p>
        </p:txBody>
      </p:sp>
      <p:sp>
        <p:nvSpPr>
          <p:cNvPr id="12" name="Shape 10"/>
          <p:cNvSpPr/>
          <p:nvPr/>
        </p:nvSpPr>
        <p:spPr>
          <a:xfrm>
            <a:off x="472559" y="5887879"/>
            <a:ext cx="13685282" cy="1254442"/>
          </a:xfrm>
          <a:prstGeom prst="roundRect">
            <a:avLst>
              <a:gd name="adj" fmla="val 1049"/>
            </a:avLst>
          </a:prstGeom>
          <a:solidFill>
            <a:srgbClr val="1E3543"/>
          </a:solidFill>
          <a:ln/>
        </p:spPr>
        <p:txBody>
          <a:bodyPr/>
          <a:lstStyle/>
          <a:p>
            <a:endParaRPr lang="en-IN"/>
          </a:p>
        </p:txBody>
      </p:sp>
      <p:sp>
        <p:nvSpPr>
          <p:cNvPr id="13" name="Shape 11"/>
          <p:cNvSpPr/>
          <p:nvPr/>
        </p:nvSpPr>
        <p:spPr>
          <a:xfrm>
            <a:off x="468273" y="5887879"/>
            <a:ext cx="13693854" cy="1254442"/>
          </a:xfrm>
          <a:prstGeom prst="roundRect">
            <a:avLst>
              <a:gd name="adj" fmla="val 1049"/>
            </a:avLst>
          </a:prstGeom>
          <a:solidFill>
            <a:schemeClr val="tx2">
              <a:lumMod val="60000"/>
              <a:lumOff val="40000"/>
            </a:schemeClr>
          </a:solidFill>
          <a:ln/>
        </p:spPr>
        <p:txBody>
          <a:bodyPr/>
          <a:lstStyle/>
          <a:p>
            <a:endParaRPr lang="en-IN" dirty="0"/>
          </a:p>
        </p:txBody>
      </p:sp>
      <p:sp>
        <p:nvSpPr>
          <p:cNvPr id="14" name="Text 12"/>
          <p:cNvSpPr/>
          <p:nvPr/>
        </p:nvSpPr>
        <p:spPr>
          <a:xfrm>
            <a:off x="556022" y="5953601"/>
            <a:ext cx="13518356" cy="1122998"/>
          </a:xfrm>
          <a:prstGeom prst="rect">
            <a:avLst/>
          </a:prstGeom>
          <a:noFill/>
          <a:ln/>
        </p:spPr>
        <p:txBody>
          <a:bodyPr wrap="square" lIns="0" tIns="0" rIns="0" bIns="0" rtlCol="0" anchor="t"/>
          <a:lstStyle/>
          <a:p>
            <a:r>
              <a:rPr lang="en-US" sz="900" dirty="0">
                <a:solidFill>
                  <a:schemeClr val="bg1"/>
                </a:solidFill>
              </a:rPr>
              <a:t>SELECT</a:t>
            </a:r>
          </a:p>
          <a:p>
            <a:r>
              <a:rPr lang="en-US" sz="900" dirty="0">
                <a:solidFill>
                  <a:schemeClr val="bg1"/>
                </a:solidFill>
              </a:rPr>
              <a:t>    </a:t>
            </a:r>
            <a:r>
              <a:rPr lang="en-US" sz="900" dirty="0" err="1">
                <a:solidFill>
                  <a:schemeClr val="bg1"/>
                </a:solidFill>
              </a:rPr>
              <a:t>college_name</a:t>
            </a:r>
            <a:r>
              <a:rPr lang="en-US" sz="900" dirty="0">
                <a:solidFill>
                  <a:schemeClr val="bg1"/>
                </a:solidFill>
              </a:rPr>
              <a:t>,</a:t>
            </a:r>
          </a:p>
          <a:p>
            <a:r>
              <a:rPr lang="en-US" sz="900" dirty="0">
                <a:solidFill>
                  <a:schemeClr val="bg1"/>
                </a:solidFill>
              </a:rPr>
              <a:t>    ROUND(AVG(salary), 2) AS </a:t>
            </a:r>
            <a:r>
              <a:rPr lang="en-US" sz="900" dirty="0" err="1">
                <a:solidFill>
                  <a:schemeClr val="bg1"/>
                </a:solidFill>
              </a:rPr>
              <a:t>avg_salary</a:t>
            </a:r>
            <a:endParaRPr lang="en-US" sz="900" dirty="0">
              <a:solidFill>
                <a:schemeClr val="bg1"/>
              </a:solidFill>
            </a:endParaRPr>
          </a:p>
          <a:p>
            <a:r>
              <a:rPr lang="en-US" sz="900" dirty="0">
                <a:solidFill>
                  <a:schemeClr val="bg1"/>
                </a:solidFill>
              </a:rPr>
              <a:t>FROM job</a:t>
            </a:r>
          </a:p>
          <a:p>
            <a:r>
              <a:rPr lang="en-US" sz="900" dirty="0">
                <a:solidFill>
                  <a:schemeClr val="bg1"/>
                </a:solidFill>
              </a:rPr>
              <a:t>WHERE </a:t>
            </a:r>
            <a:r>
              <a:rPr lang="en-US" sz="900" dirty="0" err="1">
                <a:solidFill>
                  <a:schemeClr val="bg1"/>
                </a:solidFill>
              </a:rPr>
              <a:t>placement_status</a:t>
            </a:r>
            <a:r>
              <a:rPr lang="en-US" sz="900" dirty="0">
                <a:solidFill>
                  <a:schemeClr val="bg1"/>
                </a:solidFill>
              </a:rPr>
              <a:t> = 'Placed'</a:t>
            </a:r>
          </a:p>
          <a:p>
            <a:r>
              <a:rPr lang="en-US" sz="900" dirty="0">
                <a:solidFill>
                  <a:schemeClr val="bg1"/>
                </a:solidFill>
              </a:rPr>
              <a:t>GROUP BY </a:t>
            </a:r>
            <a:r>
              <a:rPr lang="en-US" sz="900" dirty="0" err="1">
                <a:solidFill>
                  <a:schemeClr val="bg1"/>
                </a:solidFill>
              </a:rPr>
              <a:t>college_name</a:t>
            </a:r>
            <a:endParaRPr lang="en-US" sz="900" dirty="0">
              <a:solidFill>
                <a:schemeClr val="bg1"/>
              </a:solidFill>
            </a:endParaRPr>
          </a:p>
          <a:p>
            <a:r>
              <a:rPr lang="en-US" sz="900" dirty="0">
                <a:solidFill>
                  <a:schemeClr val="bg1"/>
                </a:solidFill>
              </a:rPr>
              <a:t>ORDER BY </a:t>
            </a:r>
            <a:r>
              <a:rPr lang="en-US" sz="900" dirty="0" err="1">
                <a:solidFill>
                  <a:schemeClr val="bg1"/>
                </a:solidFill>
              </a:rPr>
              <a:t>avg_salary</a:t>
            </a:r>
            <a:r>
              <a:rPr lang="en-US" sz="900" dirty="0">
                <a:solidFill>
                  <a:schemeClr val="bg1"/>
                </a:solidFill>
              </a:rPr>
              <a:t> DESC</a:t>
            </a:r>
          </a:p>
          <a:p>
            <a:r>
              <a:rPr lang="en-US" sz="900" dirty="0">
                <a:solidFill>
                  <a:schemeClr val="bg1"/>
                </a:solidFill>
              </a:rPr>
              <a:t>LIMIT 3;</a:t>
            </a:r>
          </a:p>
        </p:txBody>
      </p:sp>
      <p:sp>
        <p:nvSpPr>
          <p:cNvPr id="15" name="Text 13"/>
          <p:cNvSpPr/>
          <p:nvPr/>
        </p:nvSpPr>
        <p:spPr>
          <a:xfrm>
            <a:off x="472559" y="7241024"/>
            <a:ext cx="13685282" cy="140375"/>
          </a:xfrm>
          <a:prstGeom prst="rect">
            <a:avLst/>
          </a:prstGeom>
          <a:noFill/>
          <a:ln/>
        </p:spPr>
        <p:txBody>
          <a:bodyPr wrap="none" lIns="0" tIns="0" rIns="0" bIns="0" rtlCol="0" anchor="t"/>
          <a:lstStyle/>
          <a:p>
            <a:pPr marL="0" indent="0" algn="l">
              <a:lnSpc>
                <a:spcPts val="1100"/>
              </a:lnSpc>
              <a:buNone/>
            </a:pPr>
            <a:r>
              <a:rPr lang="en-US" sz="650" b="1" dirty="0">
                <a:solidFill>
                  <a:srgbClr val="CAD6DE"/>
                </a:solidFill>
                <a:latin typeface="Cabin" pitchFamily="34" charset="0"/>
                <a:ea typeface="Cabin" pitchFamily="34" charset="-122"/>
                <a:cs typeface="Cabin" pitchFamily="34" charset="-120"/>
              </a:rPr>
              <a:t>Explanation:</a:t>
            </a:r>
            <a:r>
              <a:rPr lang="en-US" sz="650" dirty="0">
                <a:solidFill>
                  <a:srgbClr val="CAD6DE"/>
                </a:solidFill>
                <a:latin typeface="Cabin" pitchFamily="34" charset="0"/>
                <a:ea typeface="Cabin" pitchFamily="34" charset="-122"/>
                <a:cs typeface="Cabin" pitchFamily="34" charset="-120"/>
              </a:rPr>
              <a:t> Calculates the average salary for each college and lists the top three.</a:t>
            </a:r>
            <a:endParaRPr lang="en-US" sz="650" dirty="0"/>
          </a:p>
        </p:txBody>
      </p:sp>
      <p:sp>
        <p:nvSpPr>
          <p:cNvPr id="16" name="Text 14"/>
          <p:cNvSpPr/>
          <p:nvPr/>
        </p:nvSpPr>
        <p:spPr>
          <a:xfrm>
            <a:off x="472559" y="7480102"/>
            <a:ext cx="13685282" cy="140375"/>
          </a:xfrm>
          <a:prstGeom prst="rect">
            <a:avLst/>
          </a:prstGeom>
          <a:noFill/>
          <a:ln/>
        </p:spPr>
        <p:txBody>
          <a:bodyPr wrap="none" lIns="0" tIns="0" rIns="0" bIns="0" rtlCol="0" anchor="t"/>
          <a:lstStyle/>
          <a:p>
            <a:pPr marL="0" indent="0" algn="l">
              <a:lnSpc>
                <a:spcPts val="1100"/>
              </a:lnSpc>
              <a:buNone/>
            </a:pPr>
            <a:r>
              <a:rPr lang="en-US" sz="650" b="1" dirty="0">
                <a:solidFill>
                  <a:srgbClr val="CAD6DE"/>
                </a:solidFill>
                <a:latin typeface="Cabin" pitchFamily="34" charset="0"/>
                <a:ea typeface="Cabin" pitchFamily="34" charset="-122"/>
                <a:cs typeface="Cabin" pitchFamily="34" charset="-120"/>
              </a:rPr>
              <a:t>Insight:</a:t>
            </a:r>
            <a:r>
              <a:rPr lang="en-US" sz="650" dirty="0">
                <a:solidFill>
                  <a:srgbClr val="CAD6DE"/>
                </a:solidFill>
                <a:latin typeface="Cabin" pitchFamily="34" charset="0"/>
                <a:ea typeface="Cabin" pitchFamily="34" charset="-122"/>
                <a:cs typeface="Cabin" pitchFamily="34" charset="-120"/>
              </a:rPr>
              <a:t> Reveals which colleges produce students with the highest average salaries, showcasing institutional effectiveness in placements.</a:t>
            </a:r>
            <a:endParaRPr lang="en-US" sz="650" dirty="0"/>
          </a:p>
        </p:txBody>
      </p:sp>
      <p:sp>
        <p:nvSpPr>
          <p:cNvPr id="17" name="Text 15"/>
          <p:cNvSpPr/>
          <p:nvPr/>
        </p:nvSpPr>
        <p:spPr>
          <a:xfrm>
            <a:off x="472559" y="7719179"/>
            <a:ext cx="13685282" cy="140375"/>
          </a:xfrm>
          <a:prstGeom prst="rect">
            <a:avLst/>
          </a:prstGeom>
          <a:noFill/>
          <a:ln/>
        </p:spPr>
        <p:txBody>
          <a:bodyPr wrap="none" lIns="0" tIns="0" rIns="0" bIns="0" rtlCol="0" anchor="t"/>
          <a:lstStyle/>
          <a:p>
            <a:pPr marL="0" indent="0" algn="l">
              <a:lnSpc>
                <a:spcPts val="1100"/>
              </a:lnSpc>
              <a:buNone/>
            </a:pPr>
            <a:r>
              <a:rPr lang="en-US" sz="650" b="1" dirty="0">
                <a:solidFill>
                  <a:srgbClr val="CAD6DE"/>
                </a:solidFill>
                <a:latin typeface="Cabin" pitchFamily="34" charset="0"/>
                <a:ea typeface="Cabin" pitchFamily="34" charset="-122"/>
                <a:cs typeface="Cabin" pitchFamily="34" charset="-120"/>
              </a:rPr>
              <a:t>Measures:</a:t>
            </a:r>
            <a:r>
              <a:rPr lang="en-US" sz="650" dirty="0">
                <a:solidFill>
                  <a:srgbClr val="CAD6DE"/>
                </a:solidFill>
                <a:latin typeface="Cabin" pitchFamily="34" charset="0"/>
                <a:ea typeface="Cabin" pitchFamily="34" charset="-122"/>
                <a:cs typeface="Cabin" pitchFamily="34" charset="-120"/>
              </a:rPr>
              <a:t> Use top-performing colleges as benchmarks for others. Improve placement training programs in colleges with lower salary averages. Strengthen corporate tie-ups and employer relations to enhance salary outcomes.</a:t>
            </a:r>
            <a:endParaRPr lang="en-US" sz="650" dirty="0"/>
          </a:p>
        </p:txBody>
      </p:sp>
      <p:pic>
        <p:nvPicPr>
          <p:cNvPr id="19" name="Picture 18">
            <a:extLst>
              <a:ext uri="{FF2B5EF4-FFF2-40B4-BE49-F238E27FC236}">
                <a16:creationId xmlns:a16="http://schemas.microsoft.com/office/drawing/2014/main" id="{8E044667-99CB-9205-1FE7-7AEFB38BA80E}"/>
              </a:ext>
            </a:extLst>
          </p:cNvPr>
          <p:cNvPicPr>
            <a:picLocks noChangeAspect="1"/>
          </p:cNvPicPr>
          <p:nvPr/>
        </p:nvPicPr>
        <p:blipFill>
          <a:blip r:embed="rId3"/>
          <a:stretch>
            <a:fillRect/>
          </a:stretch>
        </p:blipFill>
        <p:spPr>
          <a:xfrm>
            <a:off x="7101840" y="1743313"/>
            <a:ext cx="6621264" cy="2047280"/>
          </a:xfrm>
          <a:prstGeom prst="rect">
            <a:avLst/>
          </a:prstGeom>
        </p:spPr>
      </p:pic>
      <p:pic>
        <p:nvPicPr>
          <p:cNvPr id="21" name="Picture 20">
            <a:extLst>
              <a:ext uri="{FF2B5EF4-FFF2-40B4-BE49-F238E27FC236}">
                <a16:creationId xmlns:a16="http://schemas.microsoft.com/office/drawing/2014/main" id="{0D28A4B0-2ABE-D7D3-9A00-65FE1ADFEA09}"/>
              </a:ext>
            </a:extLst>
          </p:cNvPr>
          <p:cNvPicPr>
            <a:picLocks noChangeAspect="1"/>
          </p:cNvPicPr>
          <p:nvPr/>
        </p:nvPicPr>
        <p:blipFill>
          <a:blip r:embed="rId4"/>
          <a:stretch>
            <a:fillRect/>
          </a:stretch>
        </p:blipFill>
        <p:spPr>
          <a:xfrm>
            <a:off x="8995495" y="5940834"/>
            <a:ext cx="2833954" cy="11229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1902738"/>
            <a:ext cx="9474756"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Key Learnings from Analysis</a:t>
            </a:r>
            <a:endParaRPr lang="en-US" sz="4400" dirty="0"/>
          </a:p>
        </p:txBody>
      </p:sp>
      <p:sp>
        <p:nvSpPr>
          <p:cNvPr id="3" name="Shape 1"/>
          <p:cNvSpPr/>
          <p:nvPr/>
        </p:nvSpPr>
        <p:spPr>
          <a:xfrm>
            <a:off x="837724" y="3085505"/>
            <a:ext cx="4158734" cy="3241238"/>
          </a:xfrm>
          <a:prstGeom prst="roundRect">
            <a:avLst>
              <a:gd name="adj" fmla="val 1108"/>
            </a:avLst>
          </a:prstGeom>
          <a:solidFill>
            <a:schemeClr val="tx2">
              <a:lumMod val="60000"/>
              <a:lumOff val="40000"/>
            </a:schemeClr>
          </a:solidFill>
          <a:ln/>
        </p:spPr>
        <p:txBody>
          <a:bodyPr/>
          <a:lstStyle/>
          <a:p>
            <a:endParaRPr lang="en-IN"/>
          </a:p>
        </p:txBody>
      </p:sp>
      <p:sp>
        <p:nvSpPr>
          <p:cNvPr id="4" name="Text 2"/>
          <p:cNvSpPr/>
          <p:nvPr/>
        </p:nvSpPr>
        <p:spPr>
          <a:xfrm>
            <a:off x="1077039" y="3324820"/>
            <a:ext cx="3680103" cy="703898"/>
          </a:xfrm>
          <a:prstGeom prst="rect">
            <a:avLst/>
          </a:prstGeom>
          <a:noFill/>
          <a:ln/>
        </p:spPr>
        <p:txBody>
          <a:bodyPr wrap="square" lIns="0" tIns="0" rIns="0" bIns="0" rtlCol="0" anchor="t"/>
          <a:lstStyle/>
          <a:p>
            <a:pPr marL="0" indent="0" algn="l">
              <a:lnSpc>
                <a:spcPts val="2750"/>
              </a:lnSpc>
              <a:buNone/>
            </a:pPr>
            <a:r>
              <a:rPr lang="en-US" sz="2200" dirty="0">
                <a:solidFill>
                  <a:schemeClr val="bg1"/>
                </a:solidFill>
                <a:latin typeface="Unbounded" pitchFamily="34" charset="0"/>
                <a:ea typeface="Unbounded" pitchFamily="34" charset="-122"/>
                <a:cs typeface="Unbounded" pitchFamily="34" charset="-120"/>
              </a:rPr>
              <a:t>Academic Performance Impact</a:t>
            </a:r>
            <a:endParaRPr lang="en-US" sz="2200" dirty="0">
              <a:solidFill>
                <a:schemeClr val="bg1"/>
              </a:solidFill>
            </a:endParaRPr>
          </a:p>
        </p:txBody>
      </p:sp>
      <p:sp>
        <p:nvSpPr>
          <p:cNvPr id="5" name="Text 3"/>
          <p:cNvSpPr/>
          <p:nvPr/>
        </p:nvSpPr>
        <p:spPr>
          <a:xfrm>
            <a:off x="1077039" y="4172307"/>
            <a:ext cx="3680103" cy="1915120"/>
          </a:xfrm>
          <a:prstGeom prst="rect">
            <a:avLst/>
          </a:prstGeom>
          <a:noFill/>
          <a:ln/>
        </p:spPr>
        <p:txBody>
          <a:bodyPr wrap="square" lIns="0" tIns="0" rIns="0" bIns="0" rtlCol="0" anchor="t"/>
          <a:lstStyle/>
          <a:p>
            <a:pPr marL="0" indent="0" algn="l">
              <a:lnSpc>
                <a:spcPts val="3000"/>
              </a:lnSpc>
              <a:buNone/>
            </a:pPr>
            <a:r>
              <a:rPr lang="en-US" sz="1850" dirty="0">
                <a:solidFill>
                  <a:schemeClr val="bg1"/>
                </a:solidFill>
                <a:latin typeface="Cabin" pitchFamily="34" charset="0"/>
                <a:ea typeface="Cabin" pitchFamily="34" charset="-122"/>
                <a:cs typeface="Cabin" pitchFamily="34" charset="-120"/>
              </a:rPr>
              <a:t>High GPA and experience strongly influence placement outcomes, demonstrating the critical role of academic excellence in career success.</a:t>
            </a:r>
            <a:endParaRPr lang="en-US" sz="1850" dirty="0">
              <a:solidFill>
                <a:schemeClr val="bg1"/>
              </a:solidFill>
            </a:endParaRPr>
          </a:p>
        </p:txBody>
      </p:sp>
      <p:sp>
        <p:nvSpPr>
          <p:cNvPr id="6" name="Shape 4"/>
          <p:cNvSpPr/>
          <p:nvPr/>
        </p:nvSpPr>
        <p:spPr>
          <a:xfrm>
            <a:off x="5235773" y="3085505"/>
            <a:ext cx="4158734" cy="3241238"/>
          </a:xfrm>
          <a:prstGeom prst="roundRect">
            <a:avLst>
              <a:gd name="adj" fmla="val 1108"/>
            </a:avLst>
          </a:prstGeom>
          <a:solidFill>
            <a:schemeClr val="tx2">
              <a:lumMod val="60000"/>
              <a:lumOff val="40000"/>
            </a:schemeClr>
          </a:solidFill>
          <a:ln/>
        </p:spPr>
        <p:txBody>
          <a:bodyPr/>
          <a:lstStyle/>
          <a:p>
            <a:endParaRPr lang="en-IN"/>
          </a:p>
        </p:txBody>
      </p:sp>
      <p:sp>
        <p:nvSpPr>
          <p:cNvPr id="7" name="Text 5"/>
          <p:cNvSpPr/>
          <p:nvPr/>
        </p:nvSpPr>
        <p:spPr>
          <a:xfrm>
            <a:off x="5475089" y="3324820"/>
            <a:ext cx="3680103" cy="703898"/>
          </a:xfrm>
          <a:prstGeom prst="rect">
            <a:avLst/>
          </a:prstGeom>
          <a:noFill/>
          <a:ln/>
        </p:spPr>
        <p:txBody>
          <a:bodyPr wrap="square" lIns="0" tIns="0" rIns="0" bIns="0" rtlCol="0" anchor="t"/>
          <a:lstStyle/>
          <a:p>
            <a:pPr marL="0" indent="0" algn="l">
              <a:lnSpc>
                <a:spcPts val="2750"/>
              </a:lnSpc>
              <a:buNone/>
            </a:pPr>
            <a:r>
              <a:rPr lang="en-US" sz="2200" dirty="0">
                <a:solidFill>
                  <a:schemeClr val="bg1"/>
                </a:solidFill>
                <a:latin typeface="Unbounded" pitchFamily="34" charset="0"/>
                <a:ea typeface="Unbounded" pitchFamily="34" charset="-122"/>
                <a:cs typeface="Unbounded" pitchFamily="34" charset="-120"/>
              </a:rPr>
              <a:t>Stream and Degree Demand</a:t>
            </a:r>
            <a:endParaRPr lang="en-US" sz="2200" dirty="0">
              <a:solidFill>
                <a:schemeClr val="bg1"/>
              </a:solidFill>
            </a:endParaRPr>
          </a:p>
        </p:txBody>
      </p:sp>
      <p:sp>
        <p:nvSpPr>
          <p:cNvPr id="8" name="Text 6"/>
          <p:cNvSpPr/>
          <p:nvPr/>
        </p:nvSpPr>
        <p:spPr>
          <a:xfrm>
            <a:off x="5475089" y="4172307"/>
            <a:ext cx="3680103" cy="1532096"/>
          </a:xfrm>
          <a:prstGeom prst="rect">
            <a:avLst/>
          </a:prstGeom>
          <a:noFill/>
          <a:ln/>
        </p:spPr>
        <p:txBody>
          <a:bodyPr wrap="square" lIns="0" tIns="0" rIns="0" bIns="0" rtlCol="0" anchor="t"/>
          <a:lstStyle/>
          <a:p>
            <a:pPr marL="0" indent="0" algn="l">
              <a:lnSpc>
                <a:spcPts val="3000"/>
              </a:lnSpc>
              <a:buNone/>
            </a:pPr>
            <a:r>
              <a:rPr lang="en-US" sz="1850" dirty="0">
                <a:solidFill>
                  <a:schemeClr val="bg1"/>
                </a:solidFill>
                <a:latin typeface="Cabin" pitchFamily="34" charset="0"/>
                <a:ea typeface="Cabin" pitchFamily="34" charset="-122"/>
                <a:cs typeface="Cabin" pitchFamily="34" charset="-120"/>
              </a:rPr>
              <a:t>Certain degrees and streams are in greater demand by employers, reflecting market trends and industry requirements.</a:t>
            </a:r>
            <a:endParaRPr lang="en-US" sz="1850" dirty="0">
              <a:solidFill>
                <a:schemeClr val="bg1"/>
              </a:solidFill>
            </a:endParaRPr>
          </a:p>
        </p:txBody>
      </p:sp>
      <p:sp>
        <p:nvSpPr>
          <p:cNvPr id="9" name="Shape 7"/>
          <p:cNvSpPr/>
          <p:nvPr/>
        </p:nvSpPr>
        <p:spPr>
          <a:xfrm>
            <a:off x="9633823" y="3085505"/>
            <a:ext cx="4158853" cy="3241238"/>
          </a:xfrm>
          <a:prstGeom prst="roundRect">
            <a:avLst>
              <a:gd name="adj" fmla="val 1108"/>
            </a:avLst>
          </a:prstGeom>
          <a:solidFill>
            <a:schemeClr val="tx2">
              <a:lumMod val="60000"/>
              <a:lumOff val="40000"/>
            </a:schemeClr>
          </a:solidFill>
          <a:ln/>
        </p:spPr>
        <p:txBody>
          <a:bodyPr/>
          <a:lstStyle/>
          <a:p>
            <a:endParaRPr lang="en-IN"/>
          </a:p>
        </p:txBody>
      </p:sp>
      <p:sp>
        <p:nvSpPr>
          <p:cNvPr id="10" name="Text 8"/>
          <p:cNvSpPr/>
          <p:nvPr/>
        </p:nvSpPr>
        <p:spPr>
          <a:xfrm>
            <a:off x="9873139" y="3324820"/>
            <a:ext cx="3680222" cy="703898"/>
          </a:xfrm>
          <a:prstGeom prst="rect">
            <a:avLst/>
          </a:prstGeom>
          <a:noFill/>
          <a:ln/>
        </p:spPr>
        <p:txBody>
          <a:bodyPr wrap="square" lIns="0" tIns="0" rIns="0" bIns="0" rtlCol="0" anchor="t"/>
          <a:lstStyle/>
          <a:p>
            <a:pPr marL="0" indent="0" algn="l">
              <a:lnSpc>
                <a:spcPts val="2750"/>
              </a:lnSpc>
              <a:buNone/>
            </a:pPr>
            <a:r>
              <a:rPr lang="en-US" sz="2200" dirty="0">
                <a:solidFill>
                  <a:schemeClr val="bg1"/>
                </a:solidFill>
                <a:latin typeface="Unbounded" pitchFamily="34" charset="0"/>
                <a:ea typeface="Unbounded" pitchFamily="34" charset="-122"/>
                <a:cs typeface="Unbounded" pitchFamily="34" charset="-120"/>
              </a:rPr>
              <a:t>Institutional Excellence</a:t>
            </a:r>
            <a:endParaRPr lang="en-US" sz="2200" dirty="0">
              <a:solidFill>
                <a:schemeClr val="bg1"/>
              </a:solidFill>
            </a:endParaRPr>
          </a:p>
        </p:txBody>
      </p:sp>
      <p:sp>
        <p:nvSpPr>
          <p:cNvPr id="11" name="Text 9"/>
          <p:cNvSpPr/>
          <p:nvPr/>
        </p:nvSpPr>
        <p:spPr>
          <a:xfrm>
            <a:off x="9873139" y="4172307"/>
            <a:ext cx="3680222" cy="1532096"/>
          </a:xfrm>
          <a:prstGeom prst="rect">
            <a:avLst/>
          </a:prstGeom>
          <a:noFill/>
          <a:ln/>
        </p:spPr>
        <p:txBody>
          <a:bodyPr wrap="square" lIns="0" tIns="0" rIns="0" bIns="0" rtlCol="0" anchor="t"/>
          <a:lstStyle/>
          <a:p>
            <a:pPr marL="0" indent="0" algn="l">
              <a:lnSpc>
                <a:spcPts val="3000"/>
              </a:lnSpc>
              <a:buNone/>
            </a:pPr>
            <a:r>
              <a:rPr lang="en-US" sz="1850" dirty="0">
                <a:solidFill>
                  <a:schemeClr val="bg1"/>
                </a:solidFill>
                <a:latin typeface="Cabin" pitchFamily="34" charset="0"/>
                <a:ea typeface="Cabin" pitchFamily="34" charset="-122"/>
                <a:cs typeface="Cabin" pitchFamily="34" charset="-120"/>
              </a:rPr>
              <a:t>Colleges with strong industry relations achieve higher average salaries, highlighting the importance of corporate partnerships.</a:t>
            </a:r>
            <a:endParaRPr lang="en-US" sz="185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1557099"/>
            <a:ext cx="9156502"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Measures for Improvement</a:t>
            </a:r>
            <a:endParaRPr lang="en-US" sz="4400" dirty="0"/>
          </a:p>
        </p:txBody>
      </p:sp>
      <p:sp>
        <p:nvSpPr>
          <p:cNvPr id="3" name="Shape 1"/>
          <p:cNvSpPr/>
          <p:nvPr/>
        </p:nvSpPr>
        <p:spPr>
          <a:xfrm>
            <a:off x="837724" y="2739866"/>
            <a:ext cx="538520" cy="538520"/>
          </a:xfrm>
          <a:prstGeom prst="roundRect">
            <a:avLst>
              <a:gd name="adj" fmla="val 6668"/>
            </a:avLst>
          </a:prstGeom>
          <a:solidFill>
            <a:schemeClr val="tx2">
              <a:lumMod val="60000"/>
              <a:lumOff val="40000"/>
            </a:schemeClr>
          </a:solidFill>
          <a:ln/>
        </p:spPr>
        <p:txBody>
          <a:bodyPr/>
          <a:lstStyle/>
          <a:p>
            <a:endParaRPr lang="en-IN"/>
          </a:p>
        </p:txBody>
      </p:sp>
      <p:sp>
        <p:nvSpPr>
          <p:cNvPr id="4" name="Text 2"/>
          <p:cNvSpPr/>
          <p:nvPr/>
        </p:nvSpPr>
        <p:spPr>
          <a:xfrm>
            <a:off x="937974" y="2797850"/>
            <a:ext cx="337899" cy="422434"/>
          </a:xfrm>
          <a:prstGeom prst="rect">
            <a:avLst/>
          </a:prstGeom>
          <a:noFill/>
          <a:ln/>
        </p:spPr>
        <p:txBody>
          <a:bodyPr wrap="none" lIns="0" tIns="0" rIns="0" bIns="0" rtlCol="0" anchor="t"/>
          <a:lstStyle/>
          <a:p>
            <a:pPr marL="0" indent="0" algn="ctr">
              <a:lnSpc>
                <a:spcPts val="2650"/>
              </a:lnSpc>
              <a:buNone/>
            </a:pPr>
            <a:r>
              <a:rPr lang="en-US" sz="2650" dirty="0">
                <a:solidFill>
                  <a:schemeClr val="bg1"/>
                </a:solidFill>
                <a:latin typeface="Unbounded" pitchFamily="34" charset="0"/>
                <a:ea typeface="Unbounded" pitchFamily="34" charset="-122"/>
                <a:cs typeface="Unbounded" pitchFamily="34" charset="-120"/>
              </a:rPr>
              <a:t>1</a:t>
            </a:r>
            <a:endParaRPr lang="en-US" sz="2650" dirty="0">
              <a:solidFill>
                <a:schemeClr val="bg1"/>
              </a:solidFill>
            </a:endParaRPr>
          </a:p>
        </p:txBody>
      </p:sp>
      <p:sp>
        <p:nvSpPr>
          <p:cNvPr id="5" name="Text 3"/>
          <p:cNvSpPr/>
          <p:nvPr/>
        </p:nvSpPr>
        <p:spPr>
          <a:xfrm>
            <a:off x="1615559" y="2822138"/>
            <a:ext cx="3602474" cy="351949"/>
          </a:xfrm>
          <a:prstGeom prst="rect">
            <a:avLst/>
          </a:prstGeom>
          <a:noFill/>
          <a:ln/>
        </p:spPr>
        <p:txBody>
          <a:bodyPr wrap="none" lIns="0" tIns="0" rIns="0" bIns="0" rtlCol="0" anchor="t"/>
          <a:lstStyle/>
          <a:p>
            <a:pPr marL="0" indent="0" algn="l">
              <a:lnSpc>
                <a:spcPts val="2750"/>
              </a:lnSpc>
              <a:buNone/>
            </a:pPr>
            <a:r>
              <a:rPr lang="en-US" sz="2200" dirty="0">
                <a:solidFill>
                  <a:schemeClr val="bg2">
                    <a:lumMod val="75000"/>
                  </a:schemeClr>
                </a:solidFill>
                <a:latin typeface="Unbounded" pitchFamily="34" charset="0"/>
                <a:ea typeface="Unbounded" pitchFamily="34" charset="-122"/>
                <a:cs typeface="Unbounded" pitchFamily="34" charset="-120"/>
              </a:rPr>
              <a:t>Data-Driven Strategy</a:t>
            </a:r>
            <a:endParaRPr lang="en-US" sz="2200" dirty="0">
              <a:solidFill>
                <a:schemeClr val="bg2">
                  <a:lumMod val="75000"/>
                </a:schemeClr>
              </a:solidFill>
            </a:endParaRPr>
          </a:p>
        </p:txBody>
      </p:sp>
      <p:sp>
        <p:nvSpPr>
          <p:cNvPr id="6" name="Text 4"/>
          <p:cNvSpPr/>
          <p:nvPr/>
        </p:nvSpPr>
        <p:spPr>
          <a:xfrm>
            <a:off x="1615559" y="3317677"/>
            <a:ext cx="5549979"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Introduce data-driven placement strategy using SQL dashboards to monitor real-time placement metrics and trends.</a:t>
            </a:r>
            <a:endParaRPr lang="en-US" sz="1850" dirty="0"/>
          </a:p>
        </p:txBody>
      </p:sp>
      <p:sp>
        <p:nvSpPr>
          <p:cNvPr id="7" name="Shape 5"/>
          <p:cNvSpPr/>
          <p:nvPr/>
        </p:nvSpPr>
        <p:spPr>
          <a:xfrm>
            <a:off x="7464743" y="2739866"/>
            <a:ext cx="538520" cy="538520"/>
          </a:xfrm>
          <a:prstGeom prst="roundRect">
            <a:avLst>
              <a:gd name="adj" fmla="val 6668"/>
            </a:avLst>
          </a:prstGeom>
          <a:solidFill>
            <a:schemeClr val="tx2">
              <a:lumMod val="60000"/>
              <a:lumOff val="40000"/>
            </a:schemeClr>
          </a:solidFill>
          <a:ln/>
        </p:spPr>
        <p:txBody>
          <a:bodyPr/>
          <a:lstStyle/>
          <a:p>
            <a:endParaRPr lang="en-IN"/>
          </a:p>
        </p:txBody>
      </p:sp>
      <p:sp>
        <p:nvSpPr>
          <p:cNvPr id="8" name="Text 6"/>
          <p:cNvSpPr/>
          <p:nvPr/>
        </p:nvSpPr>
        <p:spPr>
          <a:xfrm>
            <a:off x="7564993" y="2797850"/>
            <a:ext cx="337899" cy="422434"/>
          </a:xfrm>
          <a:prstGeom prst="rect">
            <a:avLst/>
          </a:prstGeom>
          <a:noFill/>
          <a:ln/>
        </p:spPr>
        <p:txBody>
          <a:bodyPr wrap="none" lIns="0" tIns="0" rIns="0" bIns="0" rtlCol="0" anchor="t"/>
          <a:lstStyle/>
          <a:p>
            <a:pPr marL="0" indent="0" algn="ctr">
              <a:lnSpc>
                <a:spcPts val="2650"/>
              </a:lnSpc>
              <a:buNone/>
            </a:pPr>
            <a:r>
              <a:rPr lang="en-US" sz="2650" dirty="0">
                <a:solidFill>
                  <a:schemeClr val="bg1"/>
                </a:solidFill>
                <a:latin typeface="Unbounded" pitchFamily="34" charset="0"/>
                <a:ea typeface="Unbounded" pitchFamily="34" charset="-122"/>
                <a:cs typeface="Unbounded" pitchFamily="34" charset="-120"/>
              </a:rPr>
              <a:t>2</a:t>
            </a:r>
            <a:endParaRPr lang="en-US" sz="2650" dirty="0">
              <a:solidFill>
                <a:schemeClr val="bg1"/>
              </a:solidFill>
            </a:endParaRPr>
          </a:p>
        </p:txBody>
      </p:sp>
      <p:sp>
        <p:nvSpPr>
          <p:cNvPr id="9" name="Text 7"/>
          <p:cNvSpPr/>
          <p:nvPr/>
        </p:nvSpPr>
        <p:spPr>
          <a:xfrm>
            <a:off x="8242578" y="2822138"/>
            <a:ext cx="4518660" cy="351949"/>
          </a:xfrm>
          <a:prstGeom prst="rect">
            <a:avLst/>
          </a:prstGeom>
          <a:noFill/>
          <a:ln/>
        </p:spPr>
        <p:txBody>
          <a:bodyPr wrap="none" lIns="0" tIns="0" rIns="0" bIns="0" rtlCol="0" anchor="t"/>
          <a:lstStyle/>
          <a:p>
            <a:pPr marL="0" indent="0" algn="l">
              <a:lnSpc>
                <a:spcPts val="2750"/>
              </a:lnSpc>
              <a:buNone/>
            </a:pPr>
            <a:r>
              <a:rPr lang="en-US" sz="2200" dirty="0">
                <a:solidFill>
                  <a:schemeClr val="bg2">
                    <a:lumMod val="75000"/>
                  </a:schemeClr>
                </a:solidFill>
                <a:latin typeface="Unbounded" pitchFamily="34" charset="0"/>
                <a:ea typeface="Unbounded" pitchFamily="34" charset="-122"/>
                <a:cs typeface="Unbounded" pitchFamily="34" charset="-120"/>
              </a:rPr>
              <a:t>Pre-Placement Bootcamps</a:t>
            </a:r>
            <a:endParaRPr lang="en-US" sz="2200" dirty="0">
              <a:solidFill>
                <a:schemeClr val="bg2">
                  <a:lumMod val="75000"/>
                </a:schemeClr>
              </a:solidFill>
            </a:endParaRPr>
          </a:p>
        </p:txBody>
      </p:sp>
      <p:sp>
        <p:nvSpPr>
          <p:cNvPr id="10" name="Text 8"/>
          <p:cNvSpPr/>
          <p:nvPr/>
        </p:nvSpPr>
        <p:spPr>
          <a:xfrm>
            <a:off x="8242578" y="3317677"/>
            <a:ext cx="5550098"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Conduct pre-placement bootcamps focused on aptitude and soft skills to enhance student readiness for interviews and workplace demands.</a:t>
            </a:r>
            <a:endParaRPr lang="en-US" sz="1850" dirty="0"/>
          </a:p>
        </p:txBody>
      </p:sp>
      <p:sp>
        <p:nvSpPr>
          <p:cNvPr id="11" name="Shape 9"/>
          <p:cNvSpPr/>
          <p:nvPr/>
        </p:nvSpPr>
        <p:spPr>
          <a:xfrm>
            <a:off x="837724" y="4945499"/>
            <a:ext cx="538520" cy="538520"/>
          </a:xfrm>
          <a:prstGeom prst="roundRect">
            <a:avLst>
              <a:gd name="adj" fmla="val 6668"/>
            </a:avLst>
          </a:prstGeom>
          <a:solidFill>
            <a:schemeClr val="tx2">
              <a:lumMod val="60000"/>
              <a:lumOff val="40000"/>
            </a:schemeClr>
          </a:solidFill>
          <a:ln/>
        </p:spPr>
        <p:txBody>
          <a:bodyPr/>
          <a:lstStyle/>
          <a:p>
            <a:endParaRPr lang="en-IN">
              <a:solidFill>
                <a:schemeClr val="tx2">
                  <a:lumMod val="40000"/>
                  <a:lumOff val="60000"/>
                </a:schemeClr>
              </a:solidFill>
            </a:endParaRPr>
          </a:p>
        </p:txBody>
      </p:sp>
      <p:sp>
        <p:nvSpPr>
          <p:cNvPr id="12" name="Text 10"/>
          <p:cNvSpPr/>
          <p:nvPr/>
        </p:nvSpPr>
        <p:spPr>
          <a:xfrm>
            <a:off x="937974" y="5003483"/>
            <a:ext cx="337899" cy="422434"/>
          </a:xfrm>
          <a:prstGeom prst="rect">
            <a:avLst/>
          </a:prstGeom>
          <a:noFill/>
          <a:ln/>
        </p:spPr>
        <p:txBody>
          <a:bodyPr wrap="none" lIns="0" tIns="0" rIns="0" bIns="0" rtlCol="0" anchor="t"/>
          <a:lstStyle/>
          <a:p>
            <a:pPr marL="0" indent="0" algn="ctr">
              <a:lnSpc>
                <a:spcPts val="2650"/>
              </a:lnSpc>
              <a:buNone/>
            </a:pPr>
            <a:r>
              <a:rPr lang="en-US" sz="2650" dirty="0">
                <a:solidFill>
                  <a:schemeClr val="bg1"/>
                </a:solidFill>
                <a:latin typeface="Unbounded" pitchFamily="34" charset="0"/>
                <a:ea typeface="Unbounded" pitchFamily="34" charset="-122"/>
                <a:cs typeface="Unbounded" pitchFamily="34" charset="-120"/>
              </a:rPr>
              <a:t>3</a:t>
            </a:r>
            <a:endParaRPr lang="en-US" sz="2650" dirty="0">
              <a:solidFill>
                <a:schemeClr val="bg1"/>
              </a:solidFill>
            </a:endParaRPr>
          </a:p>
        </p:txBody>
      </p:sp>
      <p:sp>
        <p:nvSpPr>
          <p:cNvPr id="13" name="Text 11"/>
          <p:cNvSpPr/>
          <p:nvPr/>
        </p:nvSpPr>
        <p:spPr>
          <a:xfrm>
            <a:off x="1615559" y="5027771"/>
            <a:ext cx="2816185" cy="351949"/>
          </a:xfrm>
          <a:prstGeom prst="rect">
            <a:avLst/>
          </a:prstGeom>
          <a:noFill/>
          <a:ln/>
        </p:spPr>
        <p:txBody>
          <a:bodyPr wrap="none" lIns="0" tIns="0" rIns="0" bIns="0" rtlCol="0" anchor="t"/>
          <a:lstStyle/>
          <a:p>
            <a:pPr marL="0" indent="0" algn="l">
              <a:lnSpc>
                <a:spcPts val="2750"/>
              </a:lnSpc>
              <a:buNone/>
            </a:pPr>
            <a:r>
              <a:rPr lang="en-US" sz="2200" dirty="0">
                <a:solidFill>
                  <a:schemeClr val="bg2">
                    <a:lumMod val="75000"/>
                  </a:schemeClr>
                </a:solidFill>
                <a:latin typeface="Unbounded" pitchFamily="34" charset="0"/>
                <a:ea typeface="Unbounded" pitchFamily="34" charset="-122"/>
                <a:cs typeface="Unbounded" pitchFamily="34" charset="-120"/>
              </a:rPr>
              <a:t>Feedback Loops</a:t>
            </a:r>
            <a:endParaRPr lang="en-US" sz="2200" dirty="0">
              <a:solidFill>
                <a:schemeClr val="bg2">
                  <a:lumMod val="75000"/>
                </a:schemeClr>
              </a:solidFill>
            </a:endParaRPr>
          </a:p>
        </p:txBody>
      </p:sp>
      <p:sp>
        <p:nvSpPr>
          <p:cNvPr id="14" name="Text 12"/>
          <p:cNvSpPr/>
          <p:nvPr/>
        </p:nvSpPr>
        <p:spPr>
          <a:xfrm>
            <a:off x="1615559" y="5523309"/>
            <a:ext cx="5549979"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Ensure regular feedback loops between recruiters and institutions to align curriculum with industry expectations.</a:t>
            </a:r>
            <a:endParaRPr lang="en-US" sz="1850" dirty="0"/>
          </a:p>
        </p:txBody>
      </p:sp>
      <p:sp>
        <p:nvSpPr>
          <p:cNvPr id="15" name="Shape 13"/>
          <p:cNvSpPr/>
          <p:nvPr/>
        </p:nvSpPr>
        <p:spPr>
          <a:xfrm>
            <a:off x="7464743" y="4945499"/>
            <a:ext cx="538520" cy="538520"/>
          </a:xfrm>
          <a:prstGeom prst="roundRect">
            <a:avLst>
              <a:gd name="adj" fmla="val 6668"/>
            </a:avLst>
          </a:prstGeom>
          <a:solidFill>
            <a:schemeClr val="tx2">
              <a:lumMod val="60000"/>
              <a:lumOff val="40000"/>
            </a:schemeClr>
          </a:solidFill>
          <a:ln/>
        </p:spPr>
        <p:txBody>
          <a:bodyPr/>
          <a:lstStyle/>
          <a:p>
            <a:endParaRPr lang="en-IN"/>
          </a:p>
        </p:txBody>
      </p:sp>
      <p:sp>
        <p:nvSpPr>
          <p:cNvPr id="16" name="Text 14"/>
          <p:cNvSpPr/>
          <p:nvPr/>
        </p:nvSpPr>
        <p:spPr>
          <a:xfrm>
            <a:off x="7564993" y="5003483"/>
            <a:ext cx="337899" cy="422434"/>
          </a:xfrm>
          <a:prstGeom prst="rect">
            <a:avLst/>
          </a:prstGeom>
          <a:noFill/>
          <a:ln/>
        </p:spPr>
        <p:txBody>
          <a:bodyPr wrap="none" lIns="0" tIns="0" rIns="0" bIns="0" rtlCol="0" anchor="t"/>
          <a:lstStyle/>
          <a:p>
            <a:pPr marL="0" indent="0" algn="ctr">
              <a:lnSpc>
                <a:spcPts val="2650"/>
              </a:lnSpc>
              <a:buNone/>
            </a:pPr>
            <a:r>
              <a:rPr lang="en-US" sz="2650" dirty="0">
                <a:solidFill>
                  <a:schemeClr val="bg1"/>
                </a:solidFill>
                <a:latin typeface="Unbounded" pitchFamily="34" charset="0"/>
                <a:ea typeface="Unbounded" pitchFamily="34" charset="-122"/>
                <a:cs typeface="Unbounded" pitchFamily="34" charset="-120"/>
              </a:rPr>
              <a:t>4</a:t>
            </a:r>
            <a:endParaRPr lang="en-US" sz="2650" dirty="0">
              <a:solidFill>
                <a:schemeClr val="bg1"/>
              </a:solidFill>
            </a:endParaRPr>
          </a:p>
        </p:txBody>
      </p:sp>
      <p:sp>
        <p:nvSpPr>
          <p:cNvPr id="17" name="Text 15"/>
          <p:cNvSpPr/>
          <p:nvPr/>
        </p:nvSpPr>
        <p:spPr>
          <a:xfrm>
            <a:off x="8242578" y="5027771"/>
            <a:ext cx="3984427" cy="351949"/>
          </a:xfrm>
          <a:prstGeom prst="rect">
            <a:avLst/>
          </a:prstGeom>
          <a:noFill/>
          <a:ln/>
        </p:spPr>
        <p:txBody>
          <a:bodyPr wrap="none" lIns="0" tIns="0" rIns="0" bIns="0" rtlCol="0" anchor="t"/>
          <a:lstStyle/>
          <a:p>
            <a:pPr marL="0" indent="0" algn="l">
              <a:lnSpc>
                <a:spcPts val="2750"/>
              </a:lnSpc>
              <a:buNone/>
            </a:pPr>
            <a:r>
              <a:rPr lang="en-US" sz="2200" dirty="0">
                <a:solidFill>
                  <a:schemeClr val="bg2">
                    <a:lumMod val="75000"/>
                  </a:schemeClr>
                </a:solidFill>
                <a:latin typeface="Unbounded" pitchFamily="34" charset="0"/>
                <a:ea typeface="Unbounded" pitchFamily="34" charset="-122"/>
                <a:cs typeface="Unbounded" pitchFamily="34" charset="-120"/>
              </a:rPr>
              <a:t>Database Maintenance</a:t>
            </a:r>
            <a:endParaRPr lang="en-US" sz="2200" dirty="0">
              <a:solidFill>
                <a:schemeClr val="bg2">
                  <a:lumMod val="75000"/>
                </a:schemeClr>
              </a:solidFill>
            </a:endParaRPr>
          </a:p>
        </p:txBody>
      </p:sp>
      <p:sp>
        <p:nvSpPr>
          <p:cNvPr id="18" name="Text 16"/>
          <p:cNvSpPr/>
          <p:nvPr/>
        </p:nvSpPr>
        <p:spPr>
          <a:xfrm>
            <a:off x="8242578" y="5523309"/>
            <a:ext cx="5550098"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Maintain an updated, normalized database for yearly placement analytics to support continuous improvement initiatives.</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778788"/>
            <a:ext cx="5350788" cy="668774"/>
          </a:xfrm>
          <a:prstGeom prst="rect">
            <a:avLst/>
          </a:prstGeom>
          <a:noFill/>
          <a:ln/>
        </p:spPr>
        <p:txBody>
          <a:bodyPr wrap="none" lIns="0" tIns="0" rIns="0" bIns="0" rtlCol="0" anchor="t"/>
          <a:lstStyle/>
          <a:p>
            <a:pPr marL="0" indent="0" algn="l">
              <a:lnSpc>
                <a:spcPts val="5250"/>
              </a:lnSpc>
              <a:buNone/>
            </a:pPr>
            <a:r>
              <a:rPr lang="en-US" sz="4200" dirty="0">
                <a:solidFill>
                  <a:srgbClr val="FFFFFF"/>
                </a:solidFill>
                <a:latin typeface="Unbounded" pitchFamily="34" charset="0"/>
                <a:ea typeface="Unbounded" pitchFamily="34" charset="-122"/>
                <a:cs typeface="Unbounded" pitchFamily="34" charset="-120"/>
              </a:rPr>
              <a:t>Conclusion</a:t>
            </a:r>
            <a:endParaRPr lang="en-US" sz="4200" dirty="0"/>
          </a:p>
        </p:txBody>
      </p:sp>
      <p:sp>
        <p:nvSpPr>
          <p:cNvPr id="3" name="Text 1"/>
          <p:cNvSpPr/>
          <p:nvPr/>
        </p:nvSpPr>
        <p:spPr>
          <a:xfrm>
            <a:off x="837724" y="1902381"/>
            <a:ext cx="12954952" cy="727710"/>
          </a:xfrm>
          <a:prstGeom prst="rect">
            <a:avLst/>
          </a:prstGeom>
          <a:noFill/>
          <a:ln/>
        </p:spPr>
        <p:txBody>
          <a:bodyPr wrap="square" lIns="0" tIns="0" rIns="0" bIns="0" rtlCol="0" anchor="t"/>
          <a:lstStyle/>
          <a:p>
            <a:pPr marL="0" indent="0" algn="l">
              <a:lnSpc>
                <a:spcPts val="2850"/>
              </a:lnSpc>
              <a:buNone/>
            </a:pPr>
            <a:r>
              <a:rPr lang="en-US" sz="1750" dirty="0">
                <a:solidFill>
                  <a:srgbClr val="CAD6DE"/>
                </a:solidFill>
                <a:latin typeface="Cabin" pitchFamily="34" charset="0"/>
                <a:ea typeface="Cabin" pitchFamily="34" charset="-122"/>
                <a:cs typeface="Cabin" pitchFamily="34" charset="-120"/>
              </a:rPr>
              <a:t>This SQL analysis successfully evaluates multiple aspects of the job placement process using advanced SQL functions like CTEs, aggregation, and conditional logic.</a:t>
            </a:r>
            <a:endParaRPr lang="en-US" sz="1750" dirty="0"/>
          </a:p>
        </p:txBody>
      </p:sp>
      <p:sp>
        <p:nvSpPr>
          <p:cNvPr id="4" name="Text 2"/>
          <p:cNvSpPr/>
          <p:nvPr/>
        </p:nvSpPr>
        <p:spPr>
          <a:xfrm>
            <a:off x="837724" y="2885837"/>
            <a:ext cx="12954952" cy="1091565"/>
          </a:xfrm>
          <a:prstGeom prst="rect">
            <a:avLst/>
          </a:prstGeom>
          <a:noFill/>
          <a:ln/>
        </p:spPr>
        <p:txBody>
          <a:bodyPr wrap="square" lIns="0" tIns="0" rIns="0" bIns="0" rtlCol="0" anchor="t"/>
          <a:lstStyle/>
          <a:p>
            <a:pPr marL="0" indent="0" algn="l">
              <a:lnSpc>
                <a:spcPts val="2850"/>
              </a:lnSpc>
              <a:buNone/>
            </a:pPr>
            <a:r>
              <a:rPr lang="en-US" sz="1750" dirty="0">
                <a:solidFill>
                  <a:srgbClr val="CAD6DE"/>
                </a:solidFill>
                <a:latin typeface="Cabin" pitchFamily="34" charset="0"/>
                <a:ea typeface="Cabin" pitchFamily="34" charset="-122"/>
                <a:cs typeface="Cabin" pitchFamily="34" charset="-120"/>
              </a:rPr>
              <a:t>The ten queries (Q1–Q10) provide comprehensive insights into placement performance across multiple dimensions including salary averages, gender-based placement rates, college performance, stream popularity, degree comparisons, top earners, experience impact, academic performance correlation, age demographics, and institutional salary rankings.</a:t>
            </a:r>
            <a:endParaRPr lang="en-US" sz="1750" dirty="0"/>
          </a:p>
        </p:txBody>
      </p:sp>
      <p:sp>
        <p:nvSpPr>
          <p:cNvPr id="5" name="Text 3"/>
          <p:cNvSpPr/>
          <p:nvPr/>
        </p:nvSpPr>
        <p:spPr>
          <a:xfrm>
            <a:off x="837724" y="4233148"/>
            <a:ext cx="12954952" cy="363855"/>
          </a:xfrm>
          <a:prstGeom prst="rect">
            <a:avLst/>
          </a:prstGeom>
          <a:noFill/>
          <a:ln/>
        </p:spPr>
        <p:txBody>
          <a:bodyPr wrap="none" lIns="0" tIns="0" rIns="0" bIns="0" rtlCol="0" anchor="t"/>
          <a:lstStyle/>
          <a:p>
            <a:pPr marL="0" indent="0" algn="l">
              <a:lnSpc>
                <a:spcPts val="2850"/>
              </a:lnSpc>
              <a:buNone/>
            </a:pPr>
            <a:r>
              <a:rPr lang="en-US" sz="1750" b="1" dirty="0">
                <a:solidFill>
                  <a:srgbClr val="CAD6DE"/>
                </a:solidFill>
                <a:latin typeface="Cabin" pitchFamily="34" charset="0"/>
                <a:ea typeface="Cabin" pitchFamily="34" charset="-122"/>
                <a:cs typeface="Cabin" pitchFamily="34" charset="-120"/>
              </a:rPr>
              <a:t>The analysis demonstrates that:</a:t>
            </a:r>
            <a:endParaRPr lang="en-US" sz="1750" dirty="0"/>
          </a:p>
        </p:txBody>
      </p:sp>
      <p:sp>
        <p:nvSpPr>
          <p:cNvPr id="6" name="Text 4"/>
          <p:cNvSpPr/>
          <p:nvPr/>
        </p:nvSpPr>
        <p:spPr>
          <a:xfrm>
            <a:off x="837724" y="4852749"/>
            <a:ext cx="12954952" cy="363855"/>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AD6DE"/>
                </a:solidFill>
                <a:latin typeface="Cabin" pitchFamily="34" charset="0"/>
                <a:ea typeface="Cabin" pitchFamily="34" charset="-122"/>
                <a:cs typeface="Cabin" pitchFamily="34" charset="-120"/>
              </a:rPr>
              <a:t>High GPA and experience strongly influence placement outcomes.</a:t>
            </a:r>
            <a:endParaRPr lang="en-US" sz="1750" dirty="0"/>
          </a:p>
        </p:txBody>
      </p:sp>
      <p:sp>
        <p:nvSpPr>
          <p:cNvPr id="7" name="Text 5"/>
          <p:cNvSpPr/>
          <p:nvPr/>
        </p:nvSpPr>
        <p:spPr>
          <a:xfrm>
            <a:off x="837724" y="5296138"/>
            <a:ext cx="12954952" cy="363855"/>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AD6DE"/>
                </a:solidFill>
                <a:latin typeface="Cabin" pitchFamily="34" charset="0"/>
                <a:ea typeface="Cabin" pitchFamily="34" charset="-122"/>
                <a:cs typeface="Cabin" pitchFamily="34" charset="-120"/>
              </a:rPr>
              <a:t>Certain degrees and streams are in greater demand by employers.</a:t>
            </a:r>
            <a:endParaRPr lang="en-US" sz="1750" dirty="0"/>
          </a:p>
        </p:txBody>
      </p:sp>
      <p:sp>
        <p:nvSpPr>
          <p:cNvPr id="8" name="Text 6"/>
          <p:cNvSpPr/>
          <p:nvPr/>
        </p:nvSpPr>
        <p:spPr>
          <a:xfrm>
            <a:off x="837724" y="5739527"/>
            <a:ext cx="12954952" cy="363855"/>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AD6DE"/>
                </a:solidFill>
                <a:latin typeface="Cabin" pitchFamily="34" charset="0"/>
                <a:ea typeface="Cabin" pitchFamily="34" charset="-122"/>
                <a:cs typeface="Cabin" pitchFamily="34" charset="-120"/>
              </a:rPr>
              <a:t>Colleges with strong industry relations achieve higher average salaries.</a:t>
            </a:r>
            <a:endParaRPr lang="en-US" sz="1750" dirty="0"/>
          </a:p>
        </p:txBody>
      </p:sp>
      <p:sp>
        <p:nvSpPr>
          <p:cNvPr id="9" name="Text 7"/>
          <p:cNvSpPr/>
          <p:nvPr/>
        </p:nvSpPr>
        <p:spPr>
          <a:xfrm>
            <a:off x="837724" y="6359128"/>
            <a:ext cx="12954952" cy="1091565"/>
          </a:xfrm>
          <a:prstGeom prst="rect">
            <a:avLst/>
          </a:prstGeom>
          <a:noFill/>
          <a:ln/>
        </p:spPr>
        <p:txBody>
          <a:bodyPr wrap="square" lIns="0" tIns="0" rIns="0" bIns="0" rtlCol="0" anchor="t"/>
          <a:lstStyle/>
          <a:p>
            <a:pPr marL="0" indent="0" algn="l">
              <a:lnSpc>
                <a:spcPts val="2850"/>
              </a:lnSpc>
              <a:buNone/>
            </a:pPr>
            <a:r>
              <a:rPr lang="en-US" sz="1750" dirty="0">
                <a:solidFill>
                  <a:srgbClr val="CAD6DE"/>
                </a:solidFill>
                <a:latin typeface="Cabin" pitchFamily="34" charset="0"/>
                <a:ea typeface="Cabin" pitchFamily="34" charset="-122"/>
                <a:cs typeface="Cabin" pitchFamily="34" charset="-120"/>
              </a:rPr>
              <a:t>By implementing the recommended measures—including data-driven placement strategies, pre-placement bootcamps, regular feedback loops with recruiters, and maintaining an updated database—institutions can significantly enhance their placement outcomes and student employability.</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544038-0FAE-2B36-334E-144D41DDF5EF}"/>
              </a:ext>
            </a:extLst>
          </p:cNvPr>
          <p:cNvSpPr txBox="1"/>
          <p:nvPr/>
        </p:nvSpPr>
        <p:spPr>
          <a:xfrm>
            <a:off x="4130040" y="2591306"/>
            <a:ext cx="6370320" cy="3046988"/>
          </a:xfrm>
          <a:prstGeom prst="rect">
            <a:avLst/>
          </a:prstGeom>
          <a:noFill/>
        </p:spPr>
        <p:txBody>
          <a:bodyPr wrap="square" rtlCol="0">
            <a:spAutoFit/>
          </a:bodyPr>
          <a:lstStyle/>
          <a:p>
            <a:pPr algn="ctr"/>
            <a:r>
              <a:rPr lang="en-IN" sz="9600" b="1" dirty="0">
                <a:solidFill>
                  <a:schemeClr val="bg1"/>
                </a:solidFill>
              </a:rPr>
              <a:t>THANK YOU</a:t>
            </a:r>
          </a:p>
        </p:txBody>
      </p:sp>
    </p:spTree>
    <p:extLst>
      <p:ext uri="{BB962C8B-B14F-4D97-AF65-F5344CB8AC3E}">
        <p14:creationId xmlns:p14="http://schemas.microsoft.com/office/powerpoint/2010/main" val="930136626"/>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537D0B"/>
      </a:dk2>
      <a:lt2>
        <a:srgbClr val="A9E257"/>
      </a:lt2>
      <a:accent1>
        <a:srgbClr val="38540A"/>
      </a:accent1>
      <a:accent2>
        <a:srgbClr val="31A274"/>
      </a:accent2>
      <a:accent3>
        <a:srgbClr val="236073"/>
      </a:accent3>
      <a:accent4>
        <a:srgbClr val="6C4D90"/>
      </a:accent4>
      <a:accent5>
        <a:srgbClr val="983C27"/>
      </a:accent5>
      <a:accent6>
        <a:srgbClr val="CD811F"/>
      </a:accent6>
      <a:hlink>
        <a:srgbClr val="293F06"/>
      </a:hlink>
      <a:folHlink>
        <a:srgbClr val="68883A"/>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9759155-7935-4C61-A06C-C04380D1B16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43</TotalTime>
  <Words>1924</Words>
  <Application>Microsoft Office PowerPoint</Application>
  <PresentationFormat>Custom</PresentationFormat>
  <Paragraphs>233</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Century Gothic</vt:lpstr>
      <vt:lpstr>Unbounded</vt:lpstr>
      <vt:lpstr>Cabin</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Supriyo</dc:creator>
  <cp:lastModifiedBy>Supriyo Maity</cp:lastModifiedBy>
  <cp:revision>6</cp:revision>
  <dcterms:created xsi:type="dcterms:W3CDTF">2025-11-11T16:54:04Z</dcterms:created>
  <dcterms:modified xsi:type="dcterms:W3CDTF">2025-11-16T17:18:12Z</dcterms:modified>
</cp:coreProperties>
</file>